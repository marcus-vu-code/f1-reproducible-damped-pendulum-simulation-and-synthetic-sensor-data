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54cb8fa61d4266" /><Relationship Type="http://schemas.openxmlformats.org/officeDocument/2006/relationships/extended-properties" Target="/docProps/app.xml" Id="R19e0c479f8f2411b" /><Relationship Type="http://schemas.openxmlformats.org/officeDocument/2006/relationships/officeDocument" Target="/ppt/presentation.xml" Id="R15624b5e0fbb41f2" /></Relationships>
</file>

<file path=ppt/presentation.xml><?xml version="1.0" encoding="utf-8"?>
<p:presentation xmlns:p="http://schemas.openxmlformats.org/presentationml/2006/main">
  <p:sldMasterIdLst>
    <p:sldMasterId xmlns:r="http://schemas.openxmlformats.org/officeDocument/2006/relationships" id="2147483648" r:id="R8b093aeb5b6b481b"/>
  </p:sldMasterIdLst>
  <p:notesMasterIdLst>
    <p:notesMasterId xmlns:r="http://schemas.openxmlformats.org/officeDocument/2006/relationships" r:id="R800498bb59284759"/>
  </p:notesMasterIdLst>
  <p:sldIdLst>
    <p:sldId xmlns:r="http://schemas.openxmlformats.org/officeDocument/2006/relationships" id="256" r:id="Re2516045335c4e02"/>
    <p:sldId xmlns:r="http://schemas.openxmlformats.org/officeDocument/2006/relationships" id="257" r:id="R9dce695ea0804da6"/>
    <p:sldId xmlns:r="http://schemas.openxmlformats.org/officeDocument/2006/relationships" id="258" r:id="R588406b8ec974886"/>
    <p:sldId xmlns:r="http://schemas.openxmlformats.org/officeDocument/2006/relationships" id="259" r:id="R301268da06c943f0"/>
    <p:sldId xmlns:r="http://schemas.openxmlformats.org/officeDocument/2006/relationships" id="260" r:id="R28d9a569ca1440c6"/>
    <p:sldId xmlns:r="http://schemas.openxmlformats.org/officeDocument/2006/relationships" id="261" r:id="R244172f853d34d89"/>
    <p:sldId xmlns:r="http://schemas.openxmlformats.org/officeDocument/2006/relationships" id="262" r:id="Rae2640ae064b487b"/>
    <p:sldId xmlns:r="http://schemas.openxmlformats.org/officeDocument/2006/relationships" id="263" r:id="Ra6eb1cc2754d4e03"/>
    <p:sldId xmlns:r="http://schemas.openxmlformats.org/officeDocument/2006/relationships" id="264" r:id="R24cfee9bfa8a4489"/>
    <p:sldId xmlns:r="http://schemas.openxmlformats.org/officeDocument/2006/relationships" id="265" r:id="Rded1085cf2cd46c6"/>
    <p:sldId xmlns:r="http://schemas.openxmlformats.org/officeDocument/2006/relationships" id="266" r:id="R0eb9fa26fa1e4da9"/>
    <p:sldId xmlns:r="http://schemas.openxmlformats.org/officeDocument/2006/relationships" id="267" r:id="Rde2dbcd7f0d5464f"/>
    <p:sldId xmlns:r="http://schemas.openxmlformats.org/officeDocument/2006/relationships" id="268" r:id="R99cd6f825fca4a0d"/>
    <p:sldId xmlns:r="http://schemas.openxmlformats.org/officeDocument/2006/relationships" id="269" r:id="R6f222feb792a4d50"/>
    <p:sldId xmlns:r="http://schemas.openxmlformats.org/officeDocument/2006/relationships" id="270" r:id="Rc53c82ffb660489b"/>
    <p:sldId xmlns:r="http://schemas.openxmlformats.org/officeDocument/2006/relationships" id="271" r:id="Rb9b992c263d748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5eaae438ba46b1" /><Relationship Type="http://schemas.openxmlformats.org/officeDocument/2006/relationships/slideMaster" Target="/ppt/slideMasters/slideMaster1.xml" Id="R8b093aeb5b6b481b" /><Relationship Type="http://schemas.openxmlformats.org/officeDocument/2006/relationships/notesMaster" Target="/ppt/notesMasters/notesMaster1.xml" Id="R800498bb59284759" /><Relationship Type="http://schemas.openxmlformats.org/officeDocument/2006/relationships/presProps" Target="/ppt/presProps.xml" Id="Rb8ca1a8340b94d80" /><Relationship Type="http://schemas.openxmlformats.org/officeDocument/2006/relationships/tableStyles" Target="/ppt/tableStyles.xml" Id="R9f8803dc51ec4eec" /><Relationship Type="http://schemas.openxmlformats.org/officeDocument/2006/relationships/slide" Target="/ppt/slides/slide1.xml" Id="Re2516045335c4e02" /><Relationship Type="http://schemas.openxmlformats.org/officeDocument/2006/relationships/slide" Target="/ppt/slides/slide2.xml" Id="R9dce695ea0804da6" /><Relationship Type="http://schemas.openxmlformats.org/officeDocument/2006/relationships/slide" Target="/ppt/slides/slide3.xml" Id="R588406b8ec974886" /><Relationship Type="http://schemas.openxmlformats.org/officeDocument/2006/relationships/slide" Target="/ppt/slides/slide4.xml" Id="R301268da06c943f0" /><Relationship Type="http://schemas.openxmlformats.org/officeDocument/2006/relationships/slide" Target="/ppt/slides/slide5.xml" Id="R28d9a569ca1440c6" /><Relationship Type="http://schemas.openxmlformats.org/officeDocument/2006/relationships/slide" Target="/ppt/slides/slide6.xml" Id="R244172f853d34d89" /><Relationship Type="http://schemas.openxmlformats.org/officeDocument/2006/relationships/slide" Target="/ppt/slides/slide7.xml" Id="Rae2640ae064b487b" /><Relationship Type="http://schemas.openxmlformats.org/officeDocument/2006/relationships/slide" Target="/ppt/slides/slide8.xml" Id="Ra6eb1cc2754d4e03" /><Relationship Type="http://schemas.openxmlformats.org/officeDocument/2006/relationships/slide" Target="/ppt/slides/slide9.xml" Id="R24cfee9bfa8a4489" /><Relationship Type="http://schemas.openxmlformats.org/officeDocument/2006/relationships/slide" Target="/ppt/slides/slide10.xml" Id="Rded1085cf2cd46c6" /><Relationship Type="http://schemas.openxmlformats.org/officeDocument/2006/relationships/slide" Target="/ppt/slides/slide11.xml" Id="R0eb9fa26fa1e4da9" /><Relationship Type="http://schemas.openxmlformats.org/officeDocument/2006/relationships/slide" Target="/ppt/slides/slide12.xml" Id="Rde2dbcd7f0d5464f" /><Relationship Type="http://schemas.openxmlformats.org/officeDocument/2006/relationships/slide" Target="/ppt/slides/slide13.xml" Id="R99cd6f825fca4a0d" /><Relationship Type="http://schemas.openxmlformats.org/officeDocument/2006/relationships/slide" Target="/ppt/slides/slide14.xml" Id="R6f222feb792a4d50" /><Relationship Type="http://schemas.openxmlformats.org/officeDocument/2006/relationships/slide" Target="/ppt/slides/slide15.xml" Id="Rc53c82ffb660489b" /><Relationship Type="http://schemas.openxmlformats.org/officeDocument/2006/relationships/slide" Target="/ppt/slides/slide16.xml" Id="Rb9b992c263d748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af2a5b9d6c44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0c1857bf834721" /><Relationship Type="http://schemas.openxmlformats.org/officeDocument/2006/relationships/notesMaster" Target="/ppt/notesMasters/notesMaster1.xml" Id="Raa82ab9edce84d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f60a3214db4a96" /><Relationship Type="http://schemas.openxmlformats.org/officeDocument/2006/relationships/notesMaster" Target="/ppt/notesMasters/notesMaster1.xml" Id="R834391de79b441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cc77777df04355" /><Relationship Type="http://schemas.openxmlformats.org/officeDocument/2006/relationships/notesMaster" Target="/ppt/notesMasters/notesMaster1.xml" Id="Rd9d505d92f824a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7b3cdfe5584afc" /><Relationship Type="http://schemas.openxmlformats.org/officeDocument/2006/relationships/notesMaster" Target="/ppt/notesMasters/notesMaster1.xml" Id="R67cf1950b11840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727aa0b5844b1f" /><Relationship Type="http://schemas.openxmlformats.org/officeDocument/2006/relationships/notesMaster" Target="/ppt/notesMasters/notesMaster1.xml" Id="R9fae1eaeb05d45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94c4364130489a" /><Relationship Type="http://schemas.openxmlformats.org/officeDocument/2006/relationships/notesMaster" Target="/ppt/notesMasters/notesMaster1.xml" Id="Rbbf8c0a1aaeb46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27df38ce894ce9" /><Relationship Type="http://schemas.openxmlformats.org/officeDocument/2006/relationships/notesMaster" Target="/ppt/notesMasters/notesMaster1.xml" Id="R0f103eeb4ed04c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66717ce854228" /><Relationship Type="http://schemas.openxmlformats.org/officeDocument/2006/relationships/notesMaster" Target="/ppt/notesMasters/notesMaster1.xml" Id="R2b37fe0a52fd40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13d6d54d0d4fd3" /><Relationship Type="http://schemas.openxmlformats.org/officeDocument/2006/relationships/notesMaster" Target="/ppt/notesMasters/notesMaster1.xml" Id="Rf6c4e5d0b6f74b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cc660c692a4597" /><Relationship Type="http://schemas.openxmlformats.org/officeDocument/2006/relationships/notesMaster" Target="/ppt/notesMasters/notesMaster1.xml" Id="R3365b0e0959d4e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30a2a29c8c4031" /><Relationship Type="http://schemas.openxmlformats.org/officeDocument/2006/relationships/notesMaster" Target="/ppt/notesMasters/notesMaster1.xml" Id="Rc9ab5f3dde7749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34e290b72c4527" /><Relationship Type="http://schemas.openxmlformats.org/officeDocument/2006/relationships/notesMaster" Target="/ppt/notesMasters/notesMaster1.xml" Id="R9a90e50d05f14f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642e2fc94b4a45" /><Relationship Type="http://schemas.openxmlformats.org/officeDocument/2006/relationships/notesMaster" Target="/ppt/notesMasters/notesMaster1.xml" Id="R0c35161620e145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12c54ca12c4234" /><Relationship Type="http://schemas.openxmlformats.org/officeDocument/2006/relationships/notesMaster" Target="/ppt/notesMasters/notesMaster1.xml" Id="R52b84d19a1464f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121ec0367842d6" /><Relationship Type="http://schemas.openxmlformats.org/officeDocument/2006/relationships/notesMaster" Target="/ppt/notesMasters/notesMaster1.xml" Id="R59ac8b5c12c54d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55aaf677a74df8" /><Relationship Type="http://schemas.openxmlformats.org/officeDocument/2006/relationships/notesMaster" Target="/ppt/notesMasters/notesMaster1.xml" Id="Rbdb811f211f84b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Description for Marcus Vu.pdf, F1–F6 and S1–S6. Local supplied project brief.</a:t>
            </a:r>
          </a:p>
          <a:p xmlns:a="http://schemas.openxmlformats.org/drawingml/2006/main">
            <a:r>
              <a:t>Opening: The original simulator now supports a complete experimental sensing, estimation and prediction pipeline. All quantum calculations run in simulation. We compare methods rather than assume a benefit.</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Description for Marcus Vu.pdf, F1–F6 and S1–S6. Local supplied project brief.</a:t>
            </a:r>
          </a:p>
          <a:p xmlns:a="http://schemas.openxmlformats.org/drawingml/2006/main">
            <a:r>
              <a:t>These are implementation statuses, not claims that every research milestone is finished. F3 needs a physically validated sensor. F5 uses a tiny exactly simulated kernel. F6 provides a preliminary four-way comparison. Spring prototypes are partial.</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conditions use seed 20261008. Each scenario shares each trajectory initial condition and split. Train and validation models use only nominal conditions. Training targets are future estimator states minus current estimator states. Test truth enters only metric calculation. RMSE is calculated per trajectory then averaged. Error bars in standalone figures show between-trajectory standard deviation, not confidence intervals.</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nominal test trajectory, not an aggregate. The simulator reveals truth only for measurement simulation and evaluation. Classical EKF measures angle and reconstructs velocity. Both filters use the same initial zero state and broad covariance.</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Means of four held-out test trajectory RMSEs. Nominal angle sensor sigma=1 degree. High-noise angle sigma=4 degrees, while high-noise quantum sensing separately reduces T2 by a factor of three. These sensor modalities have unequal physical resource budgets. Sparse data supplies a measurement every 0.2 s. Drift raises damping 0.08 to 0.16 and bias 0.04 degrees/s.</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Degen, Reinhard and Cappellaro (2017), Quantum sensing, https://arxiv.org/abs/1611.02427 . The equations here are our illustrative sensing model. B(theta)=G L sin(theta) assumes an engineered uniform transverse gradient. gamma=2 pi 28 GHz/T, G=100 nT/m, T2=150 us, contrast=.95. Ideal independent readout from 64 parallel spins supplies 256 shots per batch. This is not a validated NV device or permanent-magnet dipole model. We model a frozen field during each batch, contrast decay exp(-tau/T2), and binomial projection noise. Adaptive reference phase and interrogation duration use the predicted state and covariance.</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nominal test trajectories per point. Fixed and adaptive strategies use identical shot budgets and paired random seeds within each shot setting. Shots per batch: 64, 256, 1024. Adaptive control also increases interrogation time, so this is matched shots but not matched total spin-interrogation time. Resource totals are in summary.json. Quantum FI and achieved measurement FI are separately recorded. Detector contrast reduces the readout information below the spin-state QFI.</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Havlicek et al. (2019), Supervised learning with quantum-enhanced feature spaces, https://arxiv.org/abs/1804.11326 . Our feature circuit is an original small RY/CNOT/RZ re-encoding design, not an exact reproduction of that paper. Each estimator stream tunes models separately using the same data budget and validation split. Ridge parameters 1e-5, 1e-3, 1e-1. Kernel scales .5,1,2. Features are standardized using training only. The learned quantity is a 100 ms state increment.</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main F6 comparison. Values are mean angle forecast RMSE in degrees over four test trajectories. Classical model denotes selection among polynomial and RBF by validation; the selected family may differ by sensing stream. All model training uses nominal condition only. These results are preliminary and model-dependent.</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surrogate steps of 100 ms starting from an estimated state, with no further measurements during that forecast. Rollout start times are spaced by .5 s and exclude the first .2 s. These are independent short forecasts from the test trajectories, not a single 10 s open-loop run.</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train on 64,128,256 pairs from the fixed training trajectories. Each budget independently tunes on the same validation trajectories and evaluates the same nominal test trajectories. All targets are future estimates. This is a small learning curve, not a statistical sample-complexity claim.</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Angle coverage is the empirical fraction of true angles inside marginal 1.96-sigma intervals, averaged per trajectory. EKF covariance assumes acceleration-noise intensity .004. Prediction covariance uses a first-order Jacobian J P J^T plus residual covariance from validation estimated targets. Correlations and misspecification can invalidate this approximation. This is not calibrated safety confidence. NIS and NEES are saved in results; nominal reference means are 1 and 2.</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Partial S2/S3 prototype. The request policy uses filter covariance and innovation, not a learned control agent. Request when predicted angle sigma exceeds .6 degree, .2 s has elapsed, or a recent innovation crosses chi-square(1) 99% threshold 6.635. A large innovation triggers denser readings for .2 s. Always-sensing uses all available readings. The flag is a diagnostic heuristic, not a safety guarantee or complete twin-trust algorithm.</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OOD test starts at 75,78,81,84 degrees versus training initial angles within +/-50 degrees. The depolarization ablation changes only query-state rho=(1-d)|psi&gt;&lt;psi|+dI/4 and leaves the training kernel noiseless. It tests inference-time mismatch, not a full hardware gate-noise model. Small differences between classical families reflect validation selection. Values below show angle-sensor estimators for all models.</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sensor geometry and budgets need advisor review. The default evaluation has four test trajectories and one ensemble seed. Robustness and longer-horizon effects need more seeds and matched sensing time/energy budgets. Quantum kernel simulation is exact and tiny, no computational advantage. Spring S2 is a measurement heuristic; no actuator control, RL or Bayesian optimization. S3/S5 need recovery and failure validation. S6 remains a progress report, not a publication-ready manuscript.</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Description for Marcus Vu.pdf, F1–F6 and S1–S6. Local supplied project brief.</a:t>
            </a:r>
          </a:p>
          <a:p xmlns:a="http://schemas.openxmlformats.org/drawingml/2006/main">
            <a:r>
              <a:t>Reproduce using Python &gt;=3.11 and numpy==2.3.5. python -m research.run regenerates summary, checkpoints, trajectory manifest and all comparisons. python -m research.figures uses requirements-plots.txt. python -m unittest discover -s tests -v executes 13 tests. Reproduction targets numerically consistent arrays; compressed file bytes and platform floating-point details can differ. The GitHub remote contains the previously uploaded F1 commit; current extended work is local unless separately published. Discussion: accept/modify sensing geometry; choose fairness budget; prioritize estimator bias modeling versus broader model comparisons.</a:t>
            </a:r>
          </a:p>
          <a:p xmlns:a="http://schemas.openxmlformats.org/drawingml/2006/main">
            <a:r>
              <a:t>Results source: results/progress/summary.json and per_trajectory.json. Date: October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3322e0b6e048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1141c3476544bf" /><Relationship Type="http://schemas.openxmlformats.org/officeDocument/2006/relationships/slideLayout" Target="/ppt/slideLayouts/slideLayout1.xml" Id="R7aa5bcba269b43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a5bcba269b43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6a6dbdcad046fd" /><Relationship Type="http://schemas.openxmlformats.org/officeDocument/2006/relationships/notesSlide" Target="/ppt/notesSlides/notesSlide1.xml" Id="Rcdccf3e1a89540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d4715358fe4f71" /><Relationship Type="http://schemas.openxmlformats.org/officeDocument/2006/relationships/notesSlide" Target="/ppt/notesSlides/notesSlide2.xml" Id="Rd7aec8c8146f42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bcc9330ae74f04" /><Relationship Type="http://schemas.openxmlformats.org/officeDocument/2006/relationships/notesSlide" Target="/ppt/notesSlides/notesSlide3.xml" Id="R357b05d48a5543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3170a68d684eec" /><Relationship Type="http://schemas.openxmlformats.org/officeDocument/2006/relationships/chart" Target="/ppt/slides/charts/chart1.xml" Id="Re666fa0c05164d70" /><Relationship Type="http://schemas.openxmlformats.org/officeDocument/2006/relationships/notesSlide" Target="/ppt/notesSlides/notesSlide4.xml" Id="R31f358f7d2e34c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a8c56c9f9d476a" /><Relationship Type="http://schemas.openxmlformats.org/officeDocument/2006/relationships/chart" Target="/ppt/slides/charts/chart2.xml" Id="R77d1ae71763c43a2" /><Relationship Type="http://schemas.openxmlformats.org/officeDocument/2006/relationships/notesSlide" Target="/ppt/notesSlides/notesSlide5.xml" Id="R608aaff3cc0142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eb08b8b1914701" /><Relationship Type="http://schemas.openxmlformats.org/officeDocument/2006/relationships/notesSlide" Target="/ppt/notesSlides/notesSlide6.xml" Id="R26f4294867a04f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6412d8268f451b" /><Relationship Type="http://schemas.openxmlformats.org/officeDocument/2006/relationships/chart" Target="/ppt/slides/charts/chart3.xml" Id="R284befb03f1c4dd5" /><Relationship Type="http://schemas.openxmlformats.org/officeDocument/2006/relationships/notesSlide" Target="/ppt/notesSlides/notesSlide7.xml" Id="Re10317e3574146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680403c7bf4999" /><Relationship Type="http://schemas.openxmlformats.org/officeDocument/2006/relationships/notesSlide" Target="/ppt/notesSlides/notesSlide8.xml" Id="R81b5371c124f4e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6d5f791eed4826" /><Relationship Type="http://schemas.openxmlformats.org/officeDocument/2006/relationships/notesSlide" Target="/ppt/notesSlides/notesSlide9.xml" Id="Ra5dd1ce892f04f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070bddd1d7432e" /><Relationship Type="http://schemas.openxmlformats.org/officeDocument/2006/relationships/chart" Target="/ppt/slides/charts/chart4.xml" Id="Rf98f6668b0a14575" /><Relationship Type="http://schemas.openxmlformats.org/officeDocument/2006/relationships/notesSlide" Target="/ppt/notesSlides/notesSlide10.xml" Id="Rf8c83160776d48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5bd0686ac340ea" /><Relationship Type="http://schemas.openxmlformats.org/officeDocument/2006/relationships/chart" Target="/ppt/slides/charts/chart5.xml" Id="R36b5031eb1804aea" /><Relationship Type="http://schemas.openxmlformats.org/officeDocument/2006/relationships/notesSlide" Target="/ppt/notesSlides/notesSlide11.xml" Id="R8e82359eeacf4f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3f01c211a8e4b3a" /><Relationship Type="http://schemas.openxmlformats.org/officeDocument/2006/relationships/notesSlide" Target="/ppt/notesSlides/notesSlide12.xml" Id="R3763236aa6c540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97ee5aedac4c7f" /><Relationship Type="http://schemas.openxmlformats.org/officeDocument/2006/relationships/notesSlide" Target="/ppt/notesSlides/notesSlide13.xml" Id="Rbddd463ab24a43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2d30f1ed2cd4d80" /><Relationship Type="http://schemas.openxmlformats.org/officeDocument/2006/relationships/notesSlide" Target="/ppt/notesSlides/notesSlide14.xml" Id="Rcfbe2c040aa642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8e7fa8c2e84172" /><Relationship Type="http://schemas.openxmlformats.org/officeDocument/2006/relationships/notesSlide" Target="/ppt/notesSlides/notesSlide15.xml" Id="R312e9926a9fc46b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3b2bc7526f4f5a" /><Relationship Type="http://schemas.openxmlformats.org/officeDocument/2006/relationships/notesSlide" Target="/ppt/notesSlides/notesSlide16.xml" Id="R8a6e84e2695047c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Truth</c:v>
          </c:tx>
          <c:spPr>
            <a:ln xmlns:a="http://schemas.openxmlformats.org/drawingml/2006/main" w="19050">
              <a:solidFill>
                <a:srgbClr val="173247"/>
              </a:solidFill>
            </a:ln>
          </c:spPr>
          <c:xVal>
            <c:numRef>
              <c:f>'Chart Data'!$A$2:$A$52</c:f>
              <c:numCache>
                <c:formatCode>General</c:formatCode>
                <c:ptCount val="5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numCache>
            </c:numRef>
          </c:xVal>
          <c:yVal>
            <c:numRef>
              <c:f>'Chart Data'!$B$2:$B$52</c:f>
              <c:numCache>
                <c:formatCode>0.0</c:formatCode>
                <c:ptCount val="51"/>
                <c:pt idx="0">
                  <c:v>43.719714</c:v>
                </c:pt>
                <c:pt idx="1">
                  <c:v>35.792869</c:v>
                </c:pt>
                <c:pt idx="2">
                  <c:v>15.360964</c:v>
                </c:pt>
                <c:pt idx="3">
                  <c:v>-10.391571</c:v>
                </c:pt>
                <c:pt idx="4">
                  <c:v>-31.895837</c:v>
                </c:pt>
                <c:pt idx="5">
                  <c:v>-41.673387</c:v>
                </c:pt>
                <c:pt idx="6">
                  <c:v>-36.83507</c:v>
                </c:pt>
                <c:pt idx="7">
                  <c:v>-19.097091</c:v>
                </c:pt>
                <c:pt idx="8">
                  <c:v>5.3515197</c:v>
                </c:pt>
                <c:pt idx="9">
                  <c:v>27.426502</c:v>
                </c:pt>
                <c:pt idx="10">
                  <c:v>39.248638</c:v>
                </c:pt>
                <c:pt idx="11">
                  <c:v>37.140562</c:v>
                </c:pt>
                <c:pt idx="12">
                  <c:v>21.978103</c:v>
                </c:pt>
                <c:pt idx="13">
                  <c:v>-0.96353803</c:v>
                </c:pt>
                <c:pt idx="14">
                  <c:v>-23.182578</c:v>
                </c:pt>
                <c:pt idx="15">
                  <c:v>-36.600613</c:v>
                </c:pt>
                <c:pt idx="16">
                  <c:v>-36.874018</c:v>
                </c:pt>
                <c:pt idx="17">
                  <c:v>-24.124872</c:v>
                </c:pt>
                <c:pt idx="18">
                  <c:v>-2.7989498</c:v>
                </c:pt>
                <c:pt idx="19">
                  <c:v>19.229494</c:v>
                </c:pt>
                <c:pt idx="20">
                  <c:v>33.848841</c:v>
                </c:pt>
                <c:pt idx="21">
                  <c:v>36.173406</c:v>
                </c:pt>
                <c:pt idx="22">
                  <c:v>25.651579</c:v>
                </c:pt>
                <c:pt idx="23">
                  <c:v>5.9801656</c:v>
                </c:pt>
                <c:pt idx="24">
                  <c:v>-15.60322</c:v>
                </c:pt>
                <c:pt idx="25">
                  <c:v>-31.083226</c:v>
                </c:pt>
                <c:pt idx="26">
                  <c:v>-35.152436</c:v>
                </c:pt>
                <c:pt idx="27">
                  <c:v>-26.66189</c:v>
                </c:pt>
                <c:pt idx="28">
                  <c:v>-8.6335104</c:v>
                </c:pt>
                <c:pt idx="29">
                  <c:v>12.317952</c:v>
                </c:pt>
                <c:pt idx="30">
                  <c:v>28.369473</c:v>
                </c:pt>
                <c:pt idx="31">
                  <c:v>33.903513</c:v>
                </c:pt>
                <c:pt idx="32">
                  <c:v>27.247429</c:v>
                </c:pt>
                <c:pt idx="33">
                  <c:v>10.815727</c:v>
                </c:pt>
                <c:pt idx="34">
                  <c:v>-9.3724066</c:v>
                </c:pt>
                <c:pt idx="35">
                  <c:v>-25.753867</c:v>
                </c:pt>
                <c:pt idx="36">
                  <c:v>-32.500748</c:v>
                </c:pt>
                <c:pt idx="37">
                  <c:v>-27.487642</c:v>
                </c:pt>
                <c:pt idx="38">
                  <c:v>-12.583081</c:v>
                </c:pt>
                <c:pt idx="39">
                  <c:v>6.7548002</c:v>
                </c:pt>
                <c:pt idx="40">
                  <c:v>23.267388</c:v>
                </c:pt>
                <c:pt idx="41">
                  <c:v>31.002806</c:v>
                </c:pt>
                <c:pt idx="42">
                  <c:v>27.450432</c:v>
                </c:pt>
                <c:pt idx="43">
                  <c:v>13.989027</c:v>
                </c:pt>
                <c:pt idx="44">
                  <c:v>-4.4466538</c:v>
                </c:pt>
                <c:pt idx="45">
                  <c:v>-20.929172</c:v>
                </c:pt>
                <c:pt idx="46">
                  <c:v>-29.455494</c:v>
                </c:pt>
                <c:pt idx="47">
                  <c:v>-27.193179</c:v>
                </c:pt>
                <c:pt idx="48">
                  <c:v>-15.082903</c:v>
                </c:pt>
                <c:pt idx="49">
                  <c:v>2.4256248</c:v>
                </c:pt>
                <c:pt idx="50">
                  <c:v>18.749368</c:v>
                </c:pt>
              </c:numCache>
            </c:numRef>
          </c:yVal>
        </c:ser>
        <c:ser>
          <c:idx val="1"/>
          <c:order val="1"/>
          <c:tx>
            <c:v>Classical EKF</c:v>
          </c:tx>
          <c:spPr>
            <a:ln xmlns:a="http://schemas.openxmlformats.org/drawingml/2006/main" w="19050">
              <a:solidFill>
                <a:srgbClr val="167D8D"/>
              </a:solidFill>
            </a:ln>
          </c:spPr>
          <c:xVal>
            <c:numRef>
              <c:f>'Chart Data'!$C$2:$C$52</c:f>
              <c:numCache>
                <c:formatCode>General</c:formatCode>
                <c:ptCount val="5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numCache>
            </c:numRef>
          </c:xVal>
          <c:yVal>
            <c:numRef>
              <c:f>'Chart Data'!$D$2:$D$52</c:f>
              <c:numCache>
                <c:formatCode>0.0</c:formatCode>
                <c:ptCount val="51"/>
                <c:pt idx="0">
                  <c:v>43.435739</c:v>
                </c:pt>
                <c:pt idx="1">
                  <c:v>36.152445</c:v>
                </c:pt>
                <c:pt idx="2">
                  <c:v>14.965819</c:v>
                </c:pt>
                <c:pt idx="3">
                  <c:v>-10.72048</c:v>
                </c:pt>
                <c:pt idx="4">
                  <c:v>-32.226172</c:v>
                </c:pt>
                <c:pt idx="5">
                  <c:v>-41.470072</c:v>
                </c:pt>
                <c:pt idx="6">
                  <c:v>-36.77858</c:v>
                </c:pt>
                <c:pt idx="7">
                  <c:v>-19.186318</c:v>
                </c:pt>
                <c:pt idx="8">
                  <c:v>4.8651195</c:v>
                </c:pt>
                <c:pt idx="9">
                  <c:v>27.048823</c:v>
                </c:pt>
                <c:pt idx="10">
                  <c:v>39.355557</c:v>
                </c:pt>
                <c:pt idx="11">
                  <c:v>37.620529</c:v>
                </c:pt>
                <c:pt idx="12">
                  <c:v>22.401022</c:v>
                </c:pt>
                <c:pt idx="13">
                  <c:v>-0.77251868</c:v>
                </c:pt>
                <c:pt idx="14">
                  <c:v>-23.539647</c:v>
                </c:pt>
                <c:pt idx="15">
                  <c:v>-36.428827</c:v>
                </c:pt>
                <c:pt idx="16">
                  <c:v>-36.967894</c:v>
                </c:pt>
                <c:pt idx="17">
                  <c:v>-24.262947</c:v>
                </c:pt>
                <c:pt idx="18">
                  <c:v>-2.7301619</c:v>
                </c:pt>
                <c:pt idx="19">
                  <c:v>19.402114</c:v>
                </c:pt>
                <c:pt idx="20">
                  <c:v>33.847354</c:v>
                </c:pt>
                <c:pt idx="21">
                  <c:v>35.97805</c:v>
                </c:pt>
                <c:pt idx="22">
                  <c:v>25.52675</c:v>
                </c:pt>
                <c:pt idx="23">
                  <c:v>5.9044537</c:v>
                </c:pt>
                <c:pt idx="24">
                  <c:v>-15.454614</c:v>
                </c:pt>
                <c:pt idx="25">
                  <c:v>-31.085707</c:v>
                </c:pt>
                <c:pt idx="26">
                  <c:v>-35.278249</c:v>
                </c:pt>
                <c:pt idx="27">
                  <c:v>-26.812877</c:v>
                </c:pt>
                <c:pt idx="28">
                  <c:v>-8.8696609</c:v>
                </c:pt>
                <c:pt idx="29">
                  <c:v>12.276988</c:v>
                </c:pt>
                <c:pt idx="30">
                  <c:v>28.301903</c:v>
                </c:pt>
                <c:pt idx="31">
                  <c:v>33.802714</c:v>
                </c:pt>
                <c:pt idx="32">
                  <c:v>27.545411</c:v>
                </c:pt>
                <c:pt idx="33">
                  <c:v>10.986612</c:v>
                </c:pt>
                <c:pt idx="34">
                  <c:v>-9.4569378</c:v>
                </c:pt>
                <c:pt idx="35">
                  <c:v>-25.949297</c:v>
                </c:pt>
                <c:pt idx="36">
                  <c:v>-32.893804</c:v>
                </c:pt>
                <c:pt idx="37">
                  <c:v>-27.749613</c:v>
                </c:pt>
                <c:pt idx="38">
                  <c:v>-13.152946</c:v>
                </c:pt>
                <c:pt idx="39">
                  <c:v>6.2947832</c:v>
                </c:pt>
                <c:pt idx="40">
                  <c:v>23.486721</c:v>
                </c:pt>
                <c:pt idx="41">
                  <c:v>31.162156</c:v>
                </c:pt>
                <c:pt idx="42">
                  <c:v>27.844047</c:v>
                </c:pt>
                <c:pt idx="43">
                  <c:v>13.654139</c:v>
                </c:pt>
                <c:pt idx="44">
                  <c:v>-4.4915338</c:v>
                </c:pt>
                <c:pt idx="45">
                  <c:v>-21.338043</c:v>
                </c:pt>
                <c:pt idx="46">
                  <c:v>-29.85314</c:v>
                </c:pt>
                <c:pt idx="47">
                  <c:v>-26.841513</c:v>
                </c:pt>
                <c:pt idx="48">
                  <c:v>-14.812978</c:v>
                </c:pt>
                <c:pt idx="49">
                  <c:v>2.4053498</c:v>
                </c:pt>
                <c:pt idx="50">
                  <c:v>19.080275</c:v>
                </c:pt>
              </c:numCache>
            </c:numRef>
          </c:yVal>
        </c:ser>
        <c:ser>
          <c:idx val="2"/>
          <c:order val="2"/>
          <c:tx>
            <c:v>Adaptive Ramsey</c:v>
          </c:tx>
          <c:spPr>
            <a:ln xmlns:a="http://schemas.openxmlformats.org/drawingml/2006/main" w="14288">
              <a:solidFill>
                <a:srgbClr val="D78932"/>
              </a:solidFill>
            </a:ln>
          </c:spPr>
          <c:xVal>
            <c:numRef>
              <c:f>'Chart Data'!$E$2:$E$52</c:f>
              <c:numCache>
                <c:formatCode>General</c:formatCode>
                <c:ptCount val="5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numCache>
            </c:numRef>
          </c:xVal>
          <c:yVal>
            <c:numRef>
              <c:f>'Chart Data'!$F$2:$F$52</c:f>
              <c:numCache>
                <c:formatCode>0.0</c:formatCode>
                <c:ptCount val="51"/>
                <c:pt idx="0">
                  <c:v>39.752173</c:v>
                </c:pt>
                <c:pt idx="1">
                  <c:v>40.999002</c:v>
                </c:pt>
                <c:pt idx="2">
                  <c:v>15.901772</c:v>
                </c:pt>
                <c:pt idx="3">
                  <c:v>-11.545026</c:v>
                </c:pt>
                <c:pt idx="4">
                  <c:v>-33.034005</c:v>
                </c:pt>
                <c:pt idx="5">
                  <c:v>-44.139845</c:v>
                </c:pt>
                <c:pt idx="6">
                  <c:v>-38.620368</c:v>
                </c:pt>
                <c:pt idx="7">
                  <c:v>-19.251715</c:v>
                </c:pt>
                <c:pt idx="8">
                  <c:v>6.0271457</c:v>
                </c:pt>
                <c:pt idx="9">
                  <c:v>28.724306</c:v>
                </c:pt>
                <c:pt idx="10">
                  <c:v>40.645603</c:v>
                </c:pt>
                <c:pt idx="11">
                  <c:v>37.379261</c:v>
                </c:pt>
                <c:pt idx="12">
                  <c:v>20.462628</c:v>
                </c:pt>
                <c:pt idx="13">
                  <c:v>-1.5028953</c:v>
                </c:pt>
                <c:pt idx="14">
                  <c:v>-23.827584</c:v>
                </c:pt>
                <c:pt idx="15">
                  <c:v>-37.160892</c:v>
                </c:pt>
                <c:pt idx="16">
                  <c:v>-36.532409</c:v>
                </c:pt>
                <c:pt idx="17">
                  <c:v>-24.17044</c:v>
                </c:pt>
                <c:pt idx="18">
                  <c:v>-2.7361308</c:v>
                </c:pt>
                <c:pt idx="19">
                  <c:v>18.952693</c:v>
                </c:pt>
                <c:pt idx="20">
                  <c:v>33.446545</c:v>
                </c:pt>
                <c:pt idx="21">
                  <c:v>36.972921</c:v>
                </c:pt>
                <c:pt idx="22">
                  <c:v>26.146326</c:v>
                </c:pt>
                <c:pt idx="23">
                  <c:v>6.0073655</c:v>
                </c:pt>
                <c:pt idx="24">
                  <c:v>-15.74451</c:v>
                </c:pt>
                <c:pt idx="25">
                  <c:v>-31.713683</c:v>
                </c:pt>
                <c:pt idx="26">
                  <c:v>-35.912193</c:v>
                </c:pt>
                <c:pt idx="27">
                  <c:v>-26.141332</c:v>
                </c:pt>
                <c:pt idx="28">
                  <c:v>-8.1419502</c:v>
                </c:pt>
                <c:pt idx="29">
                  <c:v>12.670356</c:v>
                </c:pt>
                <c:pt idx="30">
                  <c:v>29.601567</c:v>
                </c:pt>
                <c:pt idx="31">
                  <c:v>34.804651</c:v>
                </c:pt>
                <c:pt idx="32">
                  <c:v>27.123419</c:v>
                </c:pt>
                <c:pt idx="33">
                  <c:v>10.656529</c:v>
                </c:pt>
                <c:pt idx="34">
                  <c:v>-9.4054156</c:v>
                </c:pt>
                <c:pt idx="35">
                  <c:v>-26.124916</c:v>
                </c:pt>
                <c:pt idx="36">
                  <c:v>-33.003805</c:v>
                </c:pt>
                <c:pt idx="37">
                  <c:v>-27.893059</c:v>
                </c:pt>
                <c:pt idx="38">
                  <c:v>-12.38892</c:v>
                </c:pt>
                <c:pt idx="39">
                  <c:v>6.8912968</c:v>
                </c:pt>
                <c:pt idx="40">
                  <c:v>23.756127</c:v>
                </c:pt>
                <c:pt idx="41">
                  <c:v>31.545342</c:v>
                </c:pt>
                <c:pt idx="42">
                  <c:v>27.201944</c:v>
                </c:pt>
                <c:pt idx="43">
                  <c:v>12.722234</c:v>
                </c:pt>
                <c:pt idx="44">
                  <c:v>-4.3577038</c:v>
                </c:pt>
                <c:pt idx="45">
                  <c:v>-20.377773</c:v>
                </c:pt>
                <c:pt idx="46">
                  <c:v>-29.807673</c:v>
                </c:pt>
                <c:pt idx="47">
                  <c:v>-26.897814</c:v>
                </c:pt>
                <c:pt idx="48">
                  <c:v>-15.217</c:v>
                </c:pt>
                <c:pt idx="49">
                  <c:v>2.3756613</c:v>
                </c:pt>
                <c:pt idx="50">
                  <c:v>18.673916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50"/>
        </c:scaling>
        <c:delete val="0"/>
        <c:axPos val="l"/>
        <c:majorGridlines>
          <c:spPr>
            <a:ln xmlns:a="http://schemas.openxmlformats.org/drawingml/2006/main" w="6668">
              <a:solidFill>
                <a:srgbClr val="D9E2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Angle (degrees)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5011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72768"/>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Classical EKF</c:v>
          </c:tx>
          <c:spPr>
            <a:solidFill xmlns:a="http://schemas.openxmlformats.org/drawingml/2006/main">
              <a:srgbClr val="167D8D"/>
            </a:solidFill>
          </c:spPr>
          <c:cat>
            <c:strRef>
              <c:f>'Chart Data'!$A$2:$A$5</c:f>
              <c:strCache>
                <c:ptCount val="4"/>
                <c:pt idx="0">
                  <c:v>Nominal</c:v>
                </c:pt>
                <c:pt idx="1">
                  <c:v>High noise</c:v>
                </c:pt>
                <c:pt idx="2">
                  <c:v>Sparse</c:v>
                </c:pt>
                <c:pt idx="3">
                  <c:v>Drift</c:v>
                </c:pt>
              </c:strCache>
            </c:strRef>
          </c:cat>
          <c:val>
            <c:numRef>
              <c:f>'Chart Data'!$B$2:$B$5</c:f>
              <c:numCache>
                <c:formatCode>0.0</c:formatCode>
                <c:ptCount val="4"/>
                <c:pt idx="0">
                  <c:v>0.27913376</c:v>
                </c:pt>
                <c:pt idx="1">
                  <c:v>0.81338786</c:v>
                </c:pt>
                <c:pt idx="2">
                  <c:v>0.64757336</c:v>
                </c:pt>
                <c:pt idx="3">
                  <c:v>0.37819599</c:v>
                </c:pt>
              </c:numCache>
            </c:numRef>
          </c:val>
        </c:ser>
        <c:ser>
          <c:idx val="1"/>
          <c:order val="1"/>
          <c:tx>
            <c:v>Fixed Ramsey</c:v>
          </c:tx>
          <c:spPr>
            <a:solidFill xmlns:a="http://schemas.openxmlformats.org/drawingml/2006/main">
              <a:srgbClr val="D78932"/>
            </a:solidFill>
          </c:spPr>
          <c:cat>
            <c:strRef>
              <c:f>'Chart Data'!$C$2:$C$5</c:f>
              <c:strCache>
                <c:ptCount val="4"/>
                <c:pt idx="0">
                  <c:v>Nominal</c:v>
                </c:pt>
                <c:pt idx="1">
                  <c:v>High noise</c:v>
                </c:pt>
                <c:pt idx="2">
                  <c:v>Sparse</c:v>
                </c:pt>
                <c:pt idx="3">
                  <c:v>Drift</c:v>
                </c:pt>
              </c:strCache>
            </c:strRef>
          </c:cat>
          <c:val>
            <c:numRef>
              <c:f>'Chart Data'!$D$2:$D$5</c:f>
              <c:numCache>
                <c:formatCode>0.0</c:formatCode>
                <c:ptCount val="4"/>
                <c:pt idx="0">
                  <c:v>2.0865186</c:v>
                </c:pt>
                <c:pt idx="1">
                  <c:v>2.3908635</c:v>
                </c:pt>
                <c:pt idx="2">
                  <c:v>4.4310222</c:v>
                </c:pt>
                <c:pt idx="3">
                  <c:v>2.2890821</c:v>
                </c:pt>
              </c:numCache>
            </c:numRef>
          </c:val>
        </c:ser>
        <c:ser>
          <c:idx val="2"/>
          <c:order val="2"/>
          <c:tx>
            <c:v>Adaptive Ramsey</c:v>
          </c:tx>
          <c:spPr>
            <a:solidFill xmlns:a="http://schemas.openxmlformats.org/drawingml/2006/main">
              <a:srgbClr val="7562A6"/>
            </a:solidFill>
          </c:spPr>
          <c:cat>
            <c:strRef>
              <c:f>'Chart Data'!$E$2:$E$5</c:f>
              <c:strCache>
                <c:ptCount val="4"/>
                <c:pt idx="0">
                  <c:v>Nominal</c:v>
                </c:pt>
                <c:pt idx="1">
                  <c:v>High noise</c:v>
                </c:pt>
                <c:pt idx="2">
                  <c:v>Sparse</c:v>
                </c:pt>
                <c:pt idx="3">
                  <c:v>Drift</c:v>
                </c:pt>
              </c:strCache>
            </c:strRef>
          </c:cat>
          <c:val>
            <c:numRef>
              <c:f>'Chart Data'!$F$2:$F$5</c:f>
              <c:numCache>
                <c:formatCode>0.0</c:formatCode>
                <c:ptCount val="4"/>
                <c:pt idx="0">
                  <c:v>0.98864653</c:v>
                </c:pt>
                <c:pt idx="1">
                  <c:v>2.066863</c:v>
                </c:pt>
                <c:pt idx="2">
                  <c:v>2.2442104</c:v>
                </c:pt>
                <c:pt idx="3">
                  <c:v>1.05963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9E2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Angle RMSE (degrees)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Fixed Ramsey</c:v>
          </c:tx>
          <c:spPr>
            <a:ln xmlns:a="http://schemas.openxmlformats.org/drawingml/2006/main" w="28575">
              <a:solidFill>
                <a:srgbClr val="167D8D"/>
              </a:solidFill>
            </a:ln>
          </c:spPr>
          <c:marker>
            <c:symbol val="circle"/>
            <c:size val="8"/>
            <c:spPr>
              <a:solidFill xmlns:a="http://schemas.openxmlformats.org/drawingml/2006/main">
                <a:srgbClr val="167D8D"/>
              </a:solidFill>
            </c:spPr>
          </c:marker>
          <c:cat>
            <c:numRef>
              <c:f>'Chart Data'!$A$2:$A$4</c:f>
              <c:numCache>
                <c:formatCode>General</c:formatCode>
                <c:ptCount val="3"/>
                <c:pt idx="0">
                  <c:v>64</c:v>
                </c:pt>
                <c:pt idx="1">
                  <c:v>256</c:v>
                </c:pt>
                <c:pt idx="2">
                  <c:v>1024</c:v>
                </c:pt>
              </c:numCache>
            </c:numRef>
          </c:cat>
          <c:val>
            <c:numRef>
              <c:f>'Chart Data'!$B$2:$B$4</c:f>
              <c:numCache>
                <c:formatCode>0.0</c:formatCode>
                <c:ptCount val="3"/>
                <c:pt idx="0">
                  <c:v>2.6529156</c:v>
                </c:pt>
                <c:pt idx="1">
                  <c:v>1.9186493</c:v>
                </c:pt>
                <c:pt idx="2">
                  <c:v>1.0299519</c:v>
                </c:pt>
              </c:numCache>
            </c:numRef>
          </c:val>
        </c:ser>
        <c:ser>
          <c:idx val="1"/>
          <c:order val="1"/>
          <c:tx>
            <c:v>Adaptive Ramsey</c:v>
          </c:tx>
          <c:spPr>
            <a:ln xmlns:a="http://schemas.openxmlformats.org/drawingml/2006/main" w="28575">
              <a:solidFill>
                <a:srgbClr val="D78932"/>
              </a:solidFill>
            </a:ln>
          </c:spPr>
          <c:marker>
            <c:symbol val="circle"/>
            <c:size val="8"/>
            <c:spPr>
              <a:solidFill xmlns:a="http://schemas.openxmlformats.org/drawingml/2006/main">
                <a:srgbClr val="D78932"/>
              </a:solidFill>
            </c:spPr>
          </c:marker>
          <c:cat>
            <c:numRef>
              <c:f>'Chart Data'!$C$2:$C$4</c:f>
              <c:numCache>
                <c:formatCode>General</c:formatCode>
                <c:ptCount val="3"/>
                <c:pt idx="0">
                  <c:v>64</c:v>
                </c:pt>
                <c:pt idx="1">
                  <c:v>256</c:v>
                </c:pt>
                <c:pt idx="2">
                  <c:v>1024</c:v>
                </c:pt>
              </c:numCache>
            </c:numRef>
          </c:cat>
          <c:val>
            <c:numRef>
              <c:f>'Chart Data'!$D$2:$D$4</c:f>
              <c:numCache>
                <c:formatCode>0.0</c:formatCode>
                <c:ptCount val="3"/>
                <c:pt idx="0">
                  <c:v>1.5232186</c:v>
                </c:pt>
                <c:pt idx="1">
                  <c:v>0.89237098</c:v>
                </c:pt>
                <c:pt idx="2">
                  <c:v>0.57629437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Shots per measurement batch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9E2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Angle RMSE (degrees)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Angle + classical</c:v>
          </c:tx>
          <c:spPr>
            <a:solidFill xmlns:a="http://schemas.openxmlformats.org/drawingml/2006/main">
              <a:srgbClr val="167D8D"/>
            </a:solidFill>
          </c:spPr>
          <c:cat>
            <c:strRef>
              <c:f>'Chart Data'!$A$2:$A$5</c:f>
              <c:strCache>
                <c:ptCount val="4"/>
                <c:pt idx="0">
                  <c:v>Nominal</c:v>
                </c:pt>
                <c:pt idx="1">
                  <c:v>High noise</c:v>
                </c:pt>
                <c:pt idx="2">
                  <c:v>Sparse</c:v>
                </c:pt>
                <c:pt idx="3">
                  <c:v>Drift</c:v>
                </c:pt>
              </c:strCache>
            </c:strRef>
          </c:cat>
          <c:val>
            <c:numRef>
              <c:f>'Chart Data'!$B$2:$B$5</c:f>
              <c:numCache>
                <c:formatCode>0.0</c:formatCode>
                <c:ptCount val="4"/>
                <c:pt idx="0">
                  <c:v>0.35961293</c:v>
                </c:pt>
                <c:pt idx="1">
                  <c:v>0.92067097</c:v>
                </c:pt>
                <c:pt idx="2">
                  <c:v>0.55700021</c:v>
                </c:pt>
                <c:pt idx="3">
                  <c:v>0.53236362</c:v>
                </c:pt>
              </c:numCache>
            </c:numRef>
          </c:val>
        </c:ser>
        <c:ser>
          <c:idx val="1"/>
          <c:order val="1"/>
          <c:tx>
            <c:v>Angle + quantum</c:v>
          </c:tx>
          <c:spPr>
            <a:solidFill xmlns:a="http://schemas.openxmlformats.org/drawingml/2006/main">
              <a:srgbClr val="D78932"/>
            </a:solidFill>
          </c:spPr>
          <c:cat>
            <c:strRef>
              <c:f>'Chart Data'!$C$2:$C$5</c:f>
              <c:strCache>
                <c:ptCount val="4"/>
                <c:pt idx="0">
                  <c:v>Nominal</c:v>
                </c:pt>
                <c:pt idx="1">
                  <c:v>High noise</c:v>
                </c:pt>
                <c:pt idx="2">
                  <c:v>Sparse</c:v>
                </c:pt>
                <c:pt idx="3">
                  <c:v>Drift</c:v>
                </c:pt>
              </c:strCache>
            </c:strRef>
          </c:cat>
          <c:val>
            <c:numRef>
              <c:f>'Chart Data'!$D$2:$D$5</c:f>
              <c:numCache>
                <c:formatCode>0.0</c:formatCode>
                <c:ptCount val="4"/>
                <c:pt idx="0">
                  <c:v>2.7990506</c:v>
                </c:pt>
                <c:pt idx="1">
                  <c:v>2.9821728</c:v>
                </c:pt>
                <c:pt idx="2">
                  <c:v>2.8883156</c:v>
                </c:pt>
                <c:pt idx="3">
                  <c:v>2.8369479</c:v>
                </c:pt>
              </c:numCache>
            </c:numRef>
          </c:val>
        </c:ser>
        <c:ser>
          <c:idx val="2"/>
          <c:order val="2"/>
          <c:tx>
            <c:v>Ramsey + classical</c:v>
          </c:tx>
          <c:spPr>
            <a:solidFill xmlns:a="http://schemas.openxmlformats.org/drawingml/2006/main">
              <a:srgbClr val="7562A6"/>
            </a:solidFill>
          </c:spPr>
          <c:cat>
            <c:strRef>
              <c:f>'Chart Data'!$E$2:$E$5</c:f>
              <c:strCache>
                <c:ptCount val="4"/>
                <c:pt idx="0">
                  <c:v>Nominal</c:v>
                </c:pt>
                <c:pt idx="1">
                  <c:v>High noise</c:v>
                </c:pt>
                <c:pt idx="2">
                  <c:v>Sparse</c:v>
                </c:pt>
                <c:pt idx="3">
                  <c:v>Drift</c:v>
                </c:pt>
              </c:strCache>
            </c:strRef>
          </c:cat>
          <c:val>
            <c:numRef>
              <c:f>'Chart Data'!$F$2:$F$5</c:f>
              <c:numCache>
                <c:formatCode>0.0</c:formatCode>
                <c:ptCount val="4"/>
                <c:pt idx="0">
                  <c:v>0.96010477</c:v>
                </c:pt>
                <c:pt idx="1">
                  <c:v>1.7719975</c:v>
                </c:pt>
                <c:pt idx="2">
                  <c:v>1.9200121</c:v>
                </c:pt>
                <c:pt idx="3">
                  <c:v>0.92682965</c:v>
                </c:pt>
              </c:numCache>
            </c:numRef>
          </c:val>
        </c:ser>
        <c:ser>
          <c:idx val="3"/>
          <c:order val="3"/>
          <c:tx>
            <c:v>Ramsey + quantum</c:v>
          </c:tx>
          <c:spPr>
            <a:solidFill xmlns:a="http://schemas.openxmlformats.org/drawingml/2006/main">
              <a:srgbClr val="BE5465"/>
            </a:solidFill>
          </c:spPr>
          <c:cat>
            <c:strRef>
              <c:f>'Chart Data'!$G$2:$G$5</c:f>
              <c:strCache>
                <c:ptCount val="4"/>
                <c:pt idx="0">
                  <c:v>Nominal</c:v>
                </c:pt>
                <c:pt idx="1">
                  <c:v>High noise</c:v>
                </c:pt>
                <c:pt idx="2">
                  <c:v>Sparse</c:v>
                </c:pt>
                <c:pt idx="3">
                  <c:v>Drift</c:v>
                </c:pt>
              </c:strCache>
            </c:strRef>
          </c:cat>
          <c:val>
            <c:numRef>
              <c:f>'Chart Data'!$H$2:$H$5</c:f>
              <c:numCache>
                <c:formatCode>0.0</c:formatCode>
                <c:ptCount val="4"/>
                <c:pt idx="0">
                  <c:v>3.0227378</c:v>
                </c:pt>
                <c:pt idx="1">
                  <c:v>3.7742316</c:v>
                </c:pt>
                <c:pt idx="2">
                  <c:v>3.8189755</c:v>
                </c:pt>
                <c:pt idx="3">
                  <c:v>2.8991405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9E2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One-second angle RMSE (degrees)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Angle + classical</c:v>
          </c:tx>
          <c:spPr>
            <a:ln xmlns:a="http://schemas.openxmlformats.org/drawingml/2006/main" w="23813">
              <a:solidFill>
                <a:srgbClr val="167D8D"/>
              </a:solidFill>
            </a:ln>
          </c:spPr>
          <c:marker>
            <c:symbol val="circle"/>
            <c:size val="7"/>
            <c:spPr>
              <a:solidFill xmlns:a="http://schemas.openxmlformats.org/drawingml/2006/main">
                <a:srgbClr val="167D8D"/>
              </a:solidFill>
            </c:spPr>
          </c:marker>
          <c:cat>
            <c:numRef>
              <c:f>'Chart Data'!$A$2:$A$4</c:f>
              <c:numCache>
                <c:formatCode>General</c:formatCode>
                <c:ptCount val="3"/>
                <c:pt idx="0">
                  <c:v>64</c:v>
                </c:pt>
                <c:pt idx="1">
                  <c:v>128</c:v>
                </c:pt>
                <c:pt idx="2">
                  <c:v>256</c:v>
                </c:pt>
              </c:numCache>
            </c:numRef>
          </c:cat>
          <c:val>
            <c:numRef>
              <c:f>'Chart Data'!$B$2:$B$4</c:f>
              <c:numCache>
                <c:formatCode>0.0</c:formatCode>
                <c:ptCount val="3"/>
                <c:pt idx="0">
                  <c:v>0.31639576</c:v>
                </c:pt>
                <c:pt idx="1">
                  <c:v>0.31897195</c:v>
                </c:pt>
                <c:pt idx="2">
                  <c:v>0.31029718</c:v>
                </c:pt>
              </c:numCache>
            </c:numRef>
          </c:val>
        </c:ser>
        <c:ser>
          <c:idx val="1"/>
          <c:order val="1"/>
          <c:tx>
            <c:v>Angle + quantum</c:v>
          </c:tx>
          <c:spPr>
            <a:ln xmlns:a="http://schemas.openxmlformats.org/drawingml/2006/main" w="23813">
              <a:solidFill>
                <a:srgbClr val="D78932"/>
              </a:solidFill>
            </a:ln>
          </c:spPr>
          <c:marker>
            <c:symbol val="circle"/>
            <c:size val="7"/>
            <c:spPr>
              <a:solidFill xmlns:a="http://schemas.openxmlformats.org/drawingml/2006/main">
                <a:srgbClr val="D78932"/>
              </a:solidFill>
            </c:spPr>
          </c:marker>
          <c:cat>
            <c:numRef>
              <c:f>'Chart Data'!$C$2:$C$4</c:f>
              <c:numCache>
                <c:formatCode>General</c:formatCode>
                <c:ptCount val="3"/>
                <c:pt idx="0">
                  <c:v>64</c:v>
                </c:pt>
                <c:pt idx="1">
                  <c:v>128</c:v>
                </c:pt>
                <c:pt idx="2">
                  <c:v>256</c:v>
                </c:pt>
              </c:numCache>
            </c:numRef>
          </c:cat>
          <c:val>
            <c:numRef>
              <c:f>'Chart Data'!$D$2:$D$4</c:f>
              <c:numCache>
                <c:formatCode>0.0</c:formatCode>
                <c:ptCount val="3"/>
                <c:pt idx="0">
                  <c:v>1.0349916</c:v>
                </c:pt>
                <c:pt idx="1">
                  <c:v>0.88421723</c:v>
                </c:pt>
                <c:pt idx="2">
                  <c:v>0.87673987</c:v>
                </c:pt>
              </c:numCache>
            </c:numRef>
          </c:val>
        </c:ser>
        <c:ser>
          <c:idx val="2"/>
          <c:order val="2"/>
          <c:tx>
            <c:v>Ramsey + classical</c:v>
          </c:tx>
          <c:spPr>
            <a:ln xmlns:a="http://schemas.openxmlformats.org/drawingml/2006/main" w="23813">
              <a:solidFill>
                <a:srgbClr val="7562A6"/>
              </a:solidFill>
            </a:ln>
          </c:spPr>
          <c:marker>
            <c:symbol val="circle"/>
            <c:size val="7"/>
            <c:spPr>
              <a:solidFill xmlns:a="http://schemas.openxmlformats.org/drawingml/2006/main">
                <a:srgbClr val="7562A6"/>
              </a:solidFill>
            </c:spPr>
          </c:marker>
          <c:cat>
            <c:numRef>
              <c:f>'Chart Data'!$E$2:$E$4</c:f>
              <c:numCache>
                <c:formatCode>General</c:formatCode>
                <c:ptCount val="3"/>
                <c:pt idx="0">
                  <c:v>64</c:v>
                </c:pt>
                <c:pt idx="1">
                  <c:v>128</c:v>
                </c:pt>
                <c:pt idx="2">
                  <c:v>256</c:v>
                </c:pt>
              </c:numCache>
            </c:numRef>
          </c:cat>
          <c:val>
            <c:numRef>
              <c:f>'Chart Data'!$F$2:$F$4</c:f>
              <c:numCache>
                <c:formatCode>0.0</c:formatCode>
                <c:ptCount val="3"/>
                <c:pt idx="0">
                  <c:v>1.1562449</c:v>
                </c:pt>
                <c:pt idx="1">
                  <c:v>1.0833096</c:v>
                </c:pt>
                <c:pt idx="2">
                  <c:v>1.0832182</c:v>
                </c:pt>
              </c:numCache>
            </c:numRef>
          </c:val>
        </c:ser>
        <c:ser>
          <c:idx val="3"/>
          <c:order val="3"/>
          <c:tx>
            <c:v>Ramsey + quantum</c:v>
          </c:tx>
          <c:spPr>
            <a:ln xmlns:a="http://schemas.openxmlformats.org/drawingml/2006/main" w="23813">
              <a:solidFill>
                <a:srgbClr val="BE5465"/>
              </a:solidFill>
            </a:ln>
          </c:spPr>
          <c:marker>
            <c:symbol val="circle"/>
            <c:size val="7"/>
            <c:spPr>
              <a:solidFill xmlns:a="http://schemas.openxmlformats.org/drawingml/2006/main">
                <a:srgbClr val="BE5465"/>
              </a:solidFill>
            </c:spPr>
          </c:marker>
          <c:cat>
            <c:numRef>
              <c:f>'Chart Data'!$G$2:$G$4</c:f>
              <c:numCache>
                <c:formatCode>General</c:formatCode>
                <c:ptCount val="3"/>
                <c:pt idx="0">
                  <c:v>64</c:v>
                </c:pt>
                <c:pt idx="1">
                  <c:v>128</c:v>
                </c:pt>
                <c:pt idx="2">
                  <c:v>256</c:v>
                </c:pt>
              </c:numCache>
            </c:numRef>
          </c:cat>
          <c:val>
            <c:numRef>
              <c:f>'Chart Data'!$H$2:$H$4</c:f>
              <c:numCache>
                <c:formatCode>0.0</c:formatCode>
                <c:ptCount val="3"/>
                <c:pt idx="0">
                  <c:v>1.3629508</c:v>
                </c:pt>
                <c:pt idx="1">
                  <c:v>1.3648295</c:v>
                </c:pt>
                <c:pt idx="2">
                  <c:v>1.3410827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Training pairs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9E2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Forecast angle RMSE (degrees)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44F61"/>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960450-A4CA-40A6-88A1-D9A9354E6431}"/>
              </a:ext>
            </a:extLst>
          </p:cNvPr>
          <p:cNvSpPr>
            <a:spLocks xmlns:a="http://schemas.openxmlformats.org/drawingml/2006/main" noGrp="1"/>
          </p:cNvSpPr>
          <p:nvPr/>
        </p:nvSpPr>
        <p:spPr>
          <a:xfrm xmlns:a="http://schemas.openxmlformats.org/drawingml/2006/main">
            <a:off x="666750" y="4381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73247"/>
                </a:solidFill>
                <a:latin typeface="Arial"/>
                <a:ea typeface="Arial"/>
                <a:cs typeface="Arial"/>
              </a:defRPr>
            </a:pPr>
            <a:r>
              <a:rPr sz="4350" b="1">
                <a:solidFill>
                  <a:srgbClr val="173247"/>
                </a:solidFill>
                <a:latin typeface="Arial"/>
                <a:ea typeface="Arial"/>
                <a:cs typeface="Arial"/>
              </a:rPr>
              <a:t>Pendulum digital twin</a:t>
            </a:r>
          </a:p>
          <a:p xmlns:a="http://schemas.openxmlformats.org/drawingml/2006/main">
            <a:pPr>
              <a:defRPr sz="4350" b="1">
                <a:solidFill>
                  <a:srgbClr val="173247"/>
                </a:solidFill>
                <a:latin typeface="Arial"/>
                <a:ea typeface="Arial"/>
                <a:cs typeface="Arial"/>
              </a:defRPr>
            </a:pPr>
            <a:r>
              <a:rPr sz="4350" b="1">
                <a:solidFill>
                  <a:srgbClr val="173247"/>
                </a:solidFill>
                <a:latin typeface="Arial"/>
                <a:ea typeface="Arial"/>
                <a:cs typeface="Arial"/>
              </a:rPr>
              <a:t>Research progress</a:t>
            </a:r>
          </a:p>
        </p:txBody>
      </p:sp>
      <p:sp>
        <p:nvSpPr>
          <p:cNvPr id="2" name="">
            <a:extLst xmlns:a="http://schemas.openxmlformats.org/drawingml/2006/main">
              <a:ext uri="{FF2B5EF4-FFF2-40B4-BE49-F238E27FC236}">
                <a16:creationId xmlns:a16="http://schemas.microsoft.com/office/drawing/2014/main" id="{985C35E2-6791-41B8-AD29-0A7F09C4D9D5}"/>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70595739-EAB4-4B8B-A964-83AAAEE2C129}"/>
              </a:ext>
            </a:extLst>
          </p:cNvPr>
          <p:cNvSpPr>
            <a:spLocks xmlns:a="http://schemas.openxmlformats.org/drawingml/2006/main" noGrp="1"/>
          </p:cNvSpPr>
          <p:nvPr/>
        </p:nvSpPr>
        <p:spPr>
          <a:xfrm xmlns:a="http://schemas.openxmlformats.org/drawingml/2006/main">
            <a:off x="723900" y="28575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67D8D"/>
                </a:solidFill>
                <a:latin typeface="Arial"/>
                <a:ea typeface="Arial"/>
                <a:cs typeface="Arial"/>
              </a:defRPr>
            </a:pPr>
            <a:r>
              <a:rPr sz="2550" b="0">
                <a:solidFill>
                  <a:srgbClr val="167D8D"/>
                </a:solidFill>
                <a:latin typeface="Arial"/>
                <a:ea typeface="Arial"/>
                <a:cs typeface="Arial"/>
              </a:rPr>
              <a:t>Marcus Vu</a:t>
            </a:r>
          </a:p>
        </p:txBody>
      </p:sp>
      <p:sp>
        <p:nvSpPr>
          <p:cNvPr id="4" name="">
            <a:extLst xmlns:a="http://schemas.openxmlformats.org/drawingml/2006/main">
              <a:ext uri="{FF2B5EF4-FFF2-40B4-BE49-F238E27FC236}">
                <a16:creationId xmlns:a16="http://schemas.microsoft.com/office/drawing/2014/main" id="{3B54BF9C-8E0E-4D2F-AFB2-C270B45C372E}"/>
              </a:ext>
            </a:extLst>
          </p:cNvPr>
          <p:cNvSpPr>
            <a:spLocks xmlns:a="http://schemas.openxmlformats.org/drawingml/2006/main" noGrp="1"/>
          </p:cNvSpPr>
          <p:nvPr/>
        </p:nvSpPr>
        <p:spPr>
          <a:xfrm xmlns:a="http://schemas.openxmlformats.org/drawingml/2006/main">
            <a:off x="723900" y="359092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344F61"/>
                </a:solidFill>
                <a:latin typeface="Arial"/>
                <a:ea typeface="Arial"/>
                <a:cs typeface="Arial"/>
              </a:defRPr>
            </a:pPr>
            <a:r>
              <a:rPr sz="2100" b="0">
                <a:solidFill>
                  <a:srgbClr val="344F61"/>
                </a:solidFill>
                <a:latin typeface="Arial"/>
                <a:ea typeface="Arial"/>
                <a:cs typeface="Arial"/>
              </a:rPr>
              <a:t>Research under Dr. Kumar</a:t>
            </a:r>
          </a:p>
        </p:txBody>
      </p:sp>
      <p:sp>
        <p:nvSpPr>
          <p:cNvPr id="5" name="">
            <a:extLst xmlns:a="http://schemas.openxmlformats.org/drawingml/2006/main">
              <a:ext uri="{FF2B5EF4-FFF2-40B4-BE49-F238E27FC236}">
                <a16:creationId xmlns:a16="http://schemas.microsoft.com/office/drawing/2014/main" id="{76E8B4D7-0EB0-4748-A222-B3465CD8BC23}"/>
              </a:ext>
            </a:extLst>
          </p:cNvPr>
          <p:cNvSpPr>
            <a:spLocks xmlns:a="http://schemas.openxmlformats.org/drawingml/2006/main" noGrp="1"/>
          </p:cNvSpPr>
          <p:nvPr/>
        </p:nvSpPr>
        <p:spPr>
          <a:xfrm xmlns:a="http://schemas.openxmlformats.org/drawingml/2006/main">
            <a:off x="723900" y="4619625"/>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44F61"/>
                </a:solidFill>
                <a:latin typeface="Arial"/>
                <a:ea typeface="Arial"/>
                <a:cs typeface="Arial"/>
              </a:defRPr>
            </a:pPr>
            <a:r>
              <a:rPr sz="2025" b="0">
                <a:solidFill>
                  <a:srgbClr val="344F61"/>
                </a:solidFill>
                <a:latin typeface="Arial"/>
                <a:ea typeface="Arial"/>
                <a:cs typeface="Arial"/>
              </a:rPr>
              <a:t>October 8, 2026</a:t>
            </a:r>
          </a:p>
        </p:txBody>
      </p:sp>
      <p:sp>
        <p:nvSpPr>
          <p:cNvPr id="6" name="">
            <a:extLst xmlns:a="http://schemas.openxmlformats.org/drawingml/2006/main">
              <a:ext uri="{FF2B5EF4-FFF2-40B4-BE49-F238E27FC236}">
                <a16:creationId xmlns:a16="http://schemas.microsoft.com/office/drawing/2014/main" id="{587677E3-9AC1-4B93-B55E-73F38E9A95EA}"/>
              </a:ext>
            </a:extLst>
          </p:cNvPr>
          <p:cNvSpPr>
            <a:spLocks xmlns:a="http://schemas.openxmlformats.org/drawingml/2006/main" noGrp="1"/>
          </p:cNvSpPr>
          <p:nvPr/>
        </p:nvSpPr>
        <p:spPr>
          <a:xfrm xmlns:a="http://schemas.openxmlformats.org/drawingml/2006/main">
            <a:off x="723900" y="5286375"/>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344F61"/>
                </a:solidFill>
                <a:latin typeface="Arial"/>
                <a:ea typeface="Arial"/>
                <a:cs typeface="Arial"/>
              </a:defRPr>
            </a:pPr>
            <a:r>
              <a:rPr sz="2025" b="0">
                <a:solidFill>
                  <a:srgbClr val="344F61"/>
                </a:solidFill>
                <a:latin typeface="Arial"/>
                <a:ea typeface="Arial"/>
                <a:cs typeface="Arial"/>
              </a:rPr>
              <a:t>Simulation results and a working prototype</a:t>
            </a:r>
          </a:p>
        </p:txBody>
      </p:sp>
    </p:spTree>
    <p:extLst>
      <p:ext uri="{BB962C8B-B14F-4D97-AF65-F5344CB8AC3E}">
        <p14:creationId xmlns:p14="http://schemas.microsoft.com/office/powerpoint/2010/main" val="1780537161"/>
      </p:ext>
    </p:extLst>
  </p:cSld>
</p:sld>
</file>

<file path=ppt/slides/slide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A2D6C5-519B-4ACD-A12D-887A89C04316}"/>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Project milestones</a:t>
            </a:r>
          </a:p>
        </p:txBody>
      </p:sp>
      <p:sp>
        <p:nvSpPr>
          <p:cNvPr id="2" name="">
            <a:extLst xmlns:a="http://schemas.openxmlformats.org/drawingml/2006/main">
              <a:ext uri="{FF2B5EF4-FFF2-40B4-BE49-F238E27FC236}">
                <a16:creationId xmlns:a16="http://schemas.microsoft.com/office/drawing/2014/main" id="{52844A33-33F6-4C20-8490-2D93020BA54D}"/>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2</a:t>
            </a:r>
          </a:p>
        </p:txBody>
      </p:sp>
      <p:graphicFrame>
        <p:nvGraphicFramePr>
          <p:cNvPr id="7" name=""/>
          <p:cNvGraphicFramePr/>
          <p:nvPr/>
        </p:nvGraphicFramePr>
        <p:xfrm>
          <a:off xmlns:a="http://schemas.openxmlformats.org/drawingml/2006/main" x="704850" y="1476375"/>
          <a:ext xmlns:a="http://schemas.openxmlformats.org/drawingml/2006/main" cx="10782300" cy="4095750"/>
        </p:xfrm>
        <a:graphic xmlns:a="http://schemas.openxmlformats.org/drawingml/2006/main">
          <a:graphicData uri="http://schemas.openxmlformats.org/drawingml/2006/table">
            <a:tbl>
              <a:tblPr/>
              <a:tblGrid>
                <a:gridCol w="1238250"/>
                <a:gridCol w="6191250"/>
                <a:gridCol w="3352800"/>
              </a:tblGrid>
              <a:tr h="585107">
                <a:tc>
                  <a:txBody>
                    <a:bodyPr/>
                    <a:lstStyle/>
                    <a:p>
                      <a:r>
                        <a:rPr sz="1875" b="1">
                          <a:solidFill>
                            <a:srgbClr val="FFFFFF"/>
                          </a:solidFill>
                          <a:latin typeface="Arial"/>
                          <a:ea typeface="Arial"/>
                          <a:cs typeface="Arial"/>
                        </a:rPr>
                        <a:t>Task</a:t>
                      </a:r>
                    </a:p>
                  </a:txBody>
                  <a:tcPr marL="91440" marR="91440" marT="45720" marB="45720">
                    <a:solidFill>
                      <a:srgbClr val="173247"/>
                    </a:solidFill>
                  </a:tcPr>
                </a:tc>
                <a:tc>
                  <a:txBody>
                    <a:bodyPr/>
                    <a:lstStyle/>
                    <a:p>
                      <a:r>
                        <a:rPr sz="1875" b="1">
                          <a:solidFill>
                            <a:srgbClr val="FFFFFF"/>
                          </a:solidFill>
                          <a:latin typeface="Arial"/>
                          <a:ea typeface="Arial"/>
                          <a:cs typeface="Arial"/>
                        </a:rPr>
                        <a:t>Implemented work</a:t>
                      </a:r>
                    </a:p>
                  </a:txBody>
                  <a:tcPr marL="91440" marR="91440" marT="45720" marB="45720">
                    <a:solidFill>
                      <a:srgbClr val="173247"/>
                    </a:solidFill>
                  </a:tcPr>
                </a:tc>
                <a:tc>
                  <a:txBody>
                    <a:bodyPr/>
                    <a:lstStyle/>
                    <a:p>
                      <a:r>
                        <a:rPr sz="1875" b="1">
                          <a:solidFill>
                            <a:srgbClr val="FFFFFF"/>
                          </a:solidFill>
                          <a:latin typeface="Arial"/>
                          <a:ea typeface="Arial"/>
                          <a:cs typeface="Arial"/>
                        </a:rPr>
                        <a:t>Research status</a:t>
                      </a:r>
                    </a:p>
                  </a:txBody>
                  <a:tcPr marL="91440" marR="91440" marT="45720" marB="45720">
                    <a:solidFill>
                      <a:srgbClr val="173247"/>
                    </a:solidFill>
                  </a:tcPr>
                </a:tc>
              </a:tr>
              <a:tr h="585107">
                <a:tc>
                  <a:txBody>
                    <a:bodyPr/>
                    <a:lstStyle/>
                    <a:p>
                      <a:r>
                        <a:rPr sz="1875" b="0">
                          <a:solidFill>
                            <a:srgbClr val="344F61"/>
                          </a:solidFill>
                          <a:latin typeface="Arial"/>
                          <a:ea typeface="Arial"/>
                          <a:cs typeface="Arial"/>
                        </a:rPr>
                        <a:t>F1</a:t>
                      </a:r>
                    </a:p>
                  </a:txBody>
                  <a:tcPr marL="91440" marR="91440" marT="45720" marB="45720">
                    <a:solidFill>
                      <a:srgbClr val="FFFFFF"/>
                    </a:solidFill>
                  </a:tcPr>
                </a:tc>
                <a:tc>
                  <a:txBody>
                    <a:bodyPr/>
                    <a:lstStyle/>
                    <a:p>
                      <a:r>
                        <a:rPr sz="1875" b="0">
                          <a:solidFill>
                            <a:srgbClr val="344F61"/>
                          </a:solidFill>
                          <a:latin typeface="Arial"/>
                          <a:ea typeface="Arial"/>
                          <a:cs typeface="Arial"/>
                        </a:rPr>
                        <a:t>Simulator and trajectory datasets</a:t>
                      </a:r>
                    </a:p>
                  </a:txBody>
                  <a:tcPr marL="91440" marR="91440" marT="45720" marB="45720">
                    <a:solidFill>
                      <a:srgbClr val="FFFFFF"/>
                    </a:solidFill>
                  </a:tcPr>
                </a:tc>
                <a:tc>
                  <a:txBody>
                    <a:bodyPr/>
                    <a:lstStyle/>
                    <a:p>
                      <a:r>
                        <a:rPr sz="1875" b="0">
                          <a:solidFill>
                            <a:srgbClr val="344F61"/>
                          </a:solidFill>
                          <a:latin typeface="Arial"/>
                          <a:ea typeface="Arial"/>
                          <a:cs typeface="Arial"/>
                        </a:rPr>
                        <a:t>Implemented</a:t>
                      </a:r>
                    </a:p>
                  </a:txBody>
                  <a:tcPr marL="91440" marR="91440" marT="45720" marB="45720">
                    <a:solidFill>
                      <a:srgbClr val="FFFFFF"/>
                    </a:solidFill>
                  </a:tcPr>
                </a:tc>
              </a:tr>
              <a:tr h="585107">
                <a:tc>
                  <a:txBody>
                    <a:bodyPr/>
                    <a:lstStyle/>
                    <a:p>
                      <a:r>
                        <a:rPr sz="1875" b="0">
                          <a:solidFill>
                            <a:srgbClr val="344F61"/>
                          </a:solidFill>
                          <a:latin typeface="Arial"/>
                          <a:ea typeface="Arial"/>
                          <a:cs typeface="Arial"/>
                        </a:rPr>
                        <a:t>F2</a:t>
                      </a:r>
                    </a:p>
                  </a:txBody>
                  <a:tcPr marL="91440" marR="91440" marT="45720" marB="45720">
                    <a:solidFill>
                      <a:srgbClr val="EDF3F4"/>
                    </a:solidFill>
                  </a:tcPr>
                </a:tc>
                <a:tc>
                  <a:txBody>
                    <a:bodyPr/>
                    <a:lstStyle/>
                    <a:p>
                      <a:r>
                        <a:rPr sz="1875" b="0">
                          <a:solidFill>
                            <a:srgbClr val="344F61"/>
                          </a:solidFill>
                          <a:latin typeface="Arial"/>
                          <a:ea typeface="Arial"/>
                          <a:cs typeface="Arial"/>
                        </a:rPr>
                        <a:t>EKF, RMSE, covariance diagnostics</a:t>
                      </a:r>
                    </a:p>
                  </a:txBody>
                  <a:tcPr marL="91440" marR="91440" marT="45720" marB="45720">
                    <a:solidFill>
                      <a:srgbClr val="EDF3F4"/>
                    </a:solidFill>
                  </a:tcPr>
                </a:tc>
                <a:tc>
                  <a:txBody>
                    <a:bodyPr/>
                    <a:lstStyle/>
                    <a:p>
                      <a:r>
                        <a:rPr sz="1875" b="0">
                          <a:solidFill>
                            <a:srgbClr val="344F61"/>
                          </a:solidFill>
                          <a:latin typeface="Arial"/>
                          <a:ea typeface="Arial"/>
                          <a:cs typeface="Arial"/>
                        </a:rPr>
                        <a:t>Implemented baseline</a:t>
                      </a:r>
                    </a:p>
                  </a:txBody>
                  <a:tcPr marL="91440" marR="91440" marT="45720" marB="45720">
                    <a:solidFill>
                      <a:srgbClr val="EDF3F4"/>
                    </a:solidFill>
                  </a:tcPr>
                </a:tc>
              </a:tr>
              <a:tr h="585107">
                <a:tc>
                  <a:txBody>
                    <a:bodyPr/>
                    <a:lstStyle/>
                    <a:p>
                      <a:r>
                        <a:rPr sz="1875" b="0">
                          <a:solidFill>
                            <a:srgbClr val="344F61"/>
                          </a:solidFill>
                          <a:latin typeface="Arial"/>
                          <a:ea typeface="Arial"/>
                          <a:cs typeface="Arial"/>
                        </a:rPr>
                        <a:t>F3</a:t>
                      </a:r>
                    </a:p>
                  </a:txBody>
                  <a:tcPr marL="91440" marR="91440" marT="45720" marB="45720">
                    <a:solidFill>
                      <a:srgbClr val="FFFFFF"/>
                    </a:solidFill>
                  </a:tcPr>
                </a:tc>
                <a:tc>
                  <a:txBody>
                    <a:bodyPr/>
                    <a:lstStyle/>
                    <a:p>
                      <a:r>
                        <a:rPr sz="1875" b="0">
                          <a:solidFill>
                            <a:srgbClr val="344F61"/>
                          </a:solidFill>
                          <a:latin typeface="Arial"/>
                          <a:ea typeface="Arial"/>
                          <a:cs typeface="Arial"/>
                        </a:rPr>
                        <a:t>Ramsey readout and adaptive sensing</a:t>
                      </a:r>
                    </a:p>
                  </a:txBody>
                  <a:tcPr marL="91440" marR="91440" marT="45720" marB="45720">
                    <a:solidFill>
                      <a:srgbClr val="FFFFFF"/>
                    </a:solidFill>
                  </a:tcPr>
                </a:tc>
                <a:tc>
                  <a:txBody>
                    <a:bodyPr/>
                    <a:lstStyle/>
                    <a:p>
                      <a:r>
                        <a:rPr sz="1875" b="0">
                          <a:solidFill>
                            <a:srgbClr val="344F61"/>
                          </a:solidFill>
                          <a:latin typeface="Arial"/>
                          <a:ea typeface="Arial"/>
                          <a:cs typeface="Arial"/>
                        </a:rPr>
                        <a:t>Sensing hypothesis</a:t>
                      </a:r>
                    </a:p>
                  </a:txBody>
                  <a:tcPr marL="91440" marR="91440" marT="45720" marB="45720">
                    <a:solidFill>
                      <a:srgbClr val="FFFFFF"/>
                    </a:solidFill>
                  </a:tcPr>
                </a:tc>
              </a:tr>
              <a:tr h="585107">
                <a:tc>
                  <a:txBody>
                    <a:bodyPr/>
                    <a:lstStyle/>
                    <a:p>
                      <a:r>
                        <a:rPr sz="1875" b="0">
                          <a:solidFill>
                            <a:srgbClr val="344F61"/>
                          </a:solidFill>
                          <a:latin typeface="Arial"/>
                          <a:ea typeface="Arial"/>
                          <a:cs typeface="Arial"/>
                        </a:rPr>
                        <a:t>F4</a:t>
                      </a:r>
                    </a:p>
                  </a:txBody>
                  <a:tcPr marL="91440" marR="91440" marT="45720" marB="45720">
                    <a:solidFill>
                      <a:srgbClr val="EDF3F4"/>
                    </a:solidFill>
                  </a:tcPr>
                </a:tc>
                <a:tc>
                  <a:txBody>
                    <a:bodyPr/>
                    <a:lstStyle/>
                    <a:p>
                      <a:r>
                        <a:rPr sz="1875" b="0">
                          <a:solidFill>
                            <a:srgbClr val="344F61"/>
                          </a:solidFill>
                          <a:latin typeface="Arial"/>
                          <a:ea typeface="Arial"/>
                          <a:cs typeface="Arial"/>
                        </a:rPr>
                        <a:t>Classical surrogate selection</a:t>
                      </a:r>
                    </a:p>
                  </a:txBody>
                  <a:tcPr marL="91440" marR="91440" marT="45720" marB="45720">
                    <a:solidFill>
                      <a:srgbClr val="EDF3F4"/>
                    </a:solidFill>
                  </a:tcPr>
                </a:tc>
                <a:tc>
                  <a:txBody>
                    <a:bodyPr/>
                    <a:lstStyle/>
                    <a:p>
                      <a:r>
                        <a:rPr sz="1875" b="0">
                          <a:solidFill>
                            <a:srgbClr val="344F61"/>
                          </a:solidFill>
                          <a:latin typeface="Arial"/>
                          <a:ea typeface="Arial"/>
                          <a:cs typeface="Arial"/>
                        </a:rPr>
                        <a:t>Implemented baseline</a:t>
                      </a:r>
                    </a:p>
                  </a:txBody>
                  <a:tcPr marL="91440" marR="91440" marT="45720" marB="45720">
                    <a:solidFill>
                      <a:srgbClr val="EDF3F4"/>
                    </a:solidFill>
                  </a:tcPr>
                </a:tc>
              </a:tr>
              <a:tr h="585107">
                <a:tc>
                  <a:txBody>
                    <a:bodyPr/>
                    <a:lstStyle/>
                    <a:p>
                      <a:r>
                        <a:rPr sz="1875" b="0">
                          <a:solidFill>
                            <a:srgbClr val="344F61"/>
                          </a:solidFill>
                          <a:latin typeface="Arial"/>
                          <a:ea typeface="Arial"/>
                          <a:cs typeface="Arial"/>
                        </a:rPr>
                        <a:t>F5</a:t>
                      </a:r>
                    </a:p>
                  </a:txBody>
                  <a:tcPr marL="91440" marR="91440" marT="45720" marB="45720">
                    <a:solidFill>
                      <a:srgbClr val="FFFFFF"/>
                    </a:solidFill>
                  </a:tcPr>
                </a:tc>
                <a:tc>
                  <a:txBody>
                    <a:bodyPr/>
                    <a:lstStyle/>
                    <a:p>
                      <a:r>
                        <a:rPr sz="1875" b="0">
                          <a:solidFill>
                            <a:srgbClr val="344F61"/>
                          </a:solidFill>
                          <a:latin typeface="Arial"/>
                          <a:ea typeface="Arial"/>
                          <a:cs typeface="Arial"/>
                        </a:rPr>
                        <a:t>Two-qubit fidelity kernel</a:t>
                      </a:r>
                    </a:p>
                  </a:txBody>
                  <a:tcPr marL="91440" marR="91440" marT="45720" marB="45720">
                    <a:solidFill>
                      <a:srgbClr val="FFFFFF"/>
                    </a:solidFill>
                  </a:tcPr>
                </a:tc>
                <a:tc>
                  <a:txBody>
                    <a:bodyPr/>
                    <a:lstStyle/>
                    <a:p>
                      <a:r>
                        <a:rPr sz="1875" b="0">
                          <a:solidFill>
                            <a:srgbClr val="344F61"/>
                          </a:solidFill>
                          <a:latin typeface="Arial"/>
                          <a:ea typeface="Arial"/>
                          <a:cs typeface="Arial"/>
                        </a:rPr>
                        <a:t>Simulation prototype</a:t>
                      </a:r>
                    </a:p>
                  </a:txBody>
                  <a:tcPr marL="91440" marR="91440" marT="45720" marB="45720">
                    <a:solidFill>
                      <a:srgbClr val="FFFFFF"/>
                    </a:solidFill>
                  </a:tcPr>
                </a:tc>
              </a:tr>
              <a:tr h="585107">
                <a:tc>
                  <a:txBody>
                    <a:bodyPr/>
                    <a:lstStyle/>
                    <a:p>
                      <a:r>
                        <a:rPr sz="1875" b="0">
                          <a:solidFill>
                            <a:srgbClr val="344F61"/>
                          </a:solidFill>
                          <a:latin typeface="Arial"/>
                          <a:ea typeface="Arial"/>
                          <a:cs typeface="Arial"/>
                        </a:rPr>
                        <a:t>F6</a:t>
                      </a:r>
                    </a:p>
                  </a:txBody>
                  <a:tcPr marL="91440" marR="91440" marT="45720" marB="45720">
                    <a:solidFill>
                      <a:srgbClr val="EDF3F4"/>
                    </a:solidFill>
                  </a:tcPr>
                </a:tc>
                <a:tc>
                  <a:txBody>
                    <a:bodyPr/>
                    <a:lstStyle/>
                    <a:p>
                      <a:r>
                        <a:rPr sz="1875" b="0">
                          <a:solidFill>
                            <a:srgbClr val="344F61"/>
                          </a:solidFill>
                          <a:latin typeface="Arial"/>
                          <a:ea typeface="Arial"/>
                          <a:cs typeface="Arial"/>
                        </a:rPr>
                        <a:t>Four-way end-to-end comparison</a:t>
                      </a:r>
                    </a:p>
                  </a:txBody>
                  <a:tcPr marL="91440" marR="91440" marT="45720" marB="45720">
                    <a:solidFill>
                      <a:srgbClr val="EDF3F4"/>
                    </a:solidFill>
                  </a:tcPr>
                </a:tc>
                <a:tc>
                  <a:txBody>
                    <a:bodyPr/>
                    <a:lstStyle/>
                    <a:p>
                      <a:r>
                        <a:rPr sz="1875" b="0">
                          <a:solidFill>
                            <a:srgbClr val="344F61"/>
                          </a:solidFill>
                          <a:latin typeface="Arial"/>
                          <a:ea typeface="Arial"/>
                          <a:cs typeface="Arial"/>
                        </a:rPr>
                        <a:t>Preliminary results</a:t>
                      </a:r>
                    </a:p>
                  </a:txBody>
                  <a:tcPr marL="91440" marR="91440" marT="45720" marB="45720">
                    <a:solidFill>
                      <a:srgbClr val="EDF3F4"/>
                    </a:solidFill>
                  </a:tcPr>
                </a:tc>
              </a:tr>
            </a:tbl>
          </a:graphicData>
        </a:graphic>
      </p:graphicFrame>
      <p:sp>
        <p:nvSpPr>
          <p:cNvPr id="4" name="">
            <a:extLst xmlns:a="http://schemas.openxmlformats.org/drawingml/2006/main">
              <a:ext uri="{FF2B5EF4-FFF2-40B4-BE49-F238E27FC236}">
                <a16:creationId xmlns:a16="http://schemas.microsoft.com/office/drawing/2014/main" id="{AC9FBE6A-636C-44C5-BD43-A949B72EDE0D}"/>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Spring work includes uncertainty propagation, measurement requests and stress tests.</a:t>
            </a:r>
          </a:p>
        </p:txBody>
      </p:sp>
    </p:spTree>
    <p:extLst>
      <p:ext uri="{BB962C8B-B14F-4D97-AF65-F5344CB8AC3E}">
        <p14:creationId xmlns:p14="http://schemas.microsoft.com/office/powerpoint/2010/main" val="229383065"/>
      </p:ext>
    </p:extLst>
  </p:cSld>
</p:sld>
</file>

<file path=ppt/slides/slide3.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1706DB-014D-42AB-B0B5-A002521C9DD5}"/>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Experimental protocol</a:t>
            </a:r>
          </a:p>
        </p:txBody>
      </p:sp>
      <p:sp>
        <p:nvSpPr>
          <p:cNvPr id="2" name="">
            <a:extLst xmlns:a="http://schemas.openxmlformats.org/drawingml/2006/main">
              <a:ext uri="{FF2B5EF4-FFF2-40B4-BE49-F238E27FC236}">
                <a16:creationId xmlns:a16="http://schemas.microsoft.com/office/drawing/2014/main" id="{8D8B3AD4-8CBC-4378-93A5-D8785E039CE3}"/>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2BE9AA05-C57E-4A3A-BFE8-AC392719B1EB}"/>
              </a:ext>
            </a:extLst>
          </p:cNvPr>
          <p:cNvSpPr>
            <a:spLocks xmlns:a="http://schemas.openxmlformats.org/drawingml/2006/main" noGrp="1"/>
          </p:cNvSpPr>
          <p:nvPr/>
        </p:nvSpPr>
        <p:spPr>
          <a:xfrm xmlns:a="http://schemas.openxmlformats.org/drawingml/2006/main">
            <a:off x="723900" y="1543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167D8D"/>
                </a:solidFill>
                <a:latin typeface="Arial"/>
                <a:ea typeface="Arial"/>
                <a:cs typeface="Arial"/>
              </a:defRPr>
            </a:pPr>
            <a:r>
              <a:rPr sz="2775" b="1">
                <a:solidFill>
                  <a:srgbClr val="167D8D"/>
                </a:solidFill>
                <a:latin typeface="Arial"/>
                <a:ea typeface="Arial"/>
                <a:cs typeface="Arial"/>
              </a:rPr>
              <a:t>12 independent initial conditions</a:t>
            </a:r>
          </a:p>
        </p:txBody>
      </p:sp>
      <p:sp>
        <p:nvSpPr>
          <p:cNvPr id="4" name="">
            <a:extLst xmlns:a="http://schemas.openxmlformats.org/drawingml/2006/main">
              <a:ext uri="{FF2B5EF4-FFF2-40B4-BE49-F238E27FC236}">
                <a16:creationId xmlns:a16="http://schemas.microsoft.com/office/drawing/2014/main" id="{E6105BE7-A663-4CEB-A160-00AF33543CB9}"/>
              </a:ext>
            </a:extLst>
          </p:cNvPr>
          <p:cNvSpPr>
            <a:spLocks xmlns:a="http://schemas.openxmlformats.org/drawingml/2006/main" noGrp="1"/>
          </p:cNvSpPr>
          <p:nvPr/>
        </p:nvSpPr>
        <p:spPr>
          <a:xfrm xmlns:a="http://schemas.openxmlformats.org/drawingml/2006/main">
            <a:off x="723900" y="23812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344F61"/>
                </a:solidFill>
                <a:latin typeface="Arial"/>
                <a:ea typeface="Arial"/>
                <a:cs typeface="Arial"/>
              </a:defRPr>
            </a:pPr>
            <a:r>
              <a:rPr sz="2250" b="0">
                <a:solidFill>
                  <a:srgbClr val="344F61"/>
                </a:solidFill>
                <a:latin typeface="Arial"/>
                <a:ea typeface="Arial"/>
                <a:cs typeface="Arial"/>
              </a:rPr>
              <a:t>6 training trajectories, 2 validation trajectories, 4 test trajectories</a:t>
            </a:r>
          </a:p>
        </p:txBody>
      </p:sp>
      <p:sp>
        <p:nvSpPr>
          <p:cNvPr id="5" name="">
            <a:extLst xmlns:a="http://schemas.openxmlformats.org/drawingml/2006/main">
              <a:ext uri="{FF2B5EF4-FFF2-40B4-BE49-F238E27FC236}">
                <a16:creationId xmlns:a16="http://schemas.microsoft.com/office/drawing/2014/main" id="{6B1D0942-9A31-4EC8-9A14-440DFF935B99}"/>
              </a:ext>
            </a:extLst>
          </p:cNvPr>
          <p:cNvSpPr>
            <a:spLocks xmlns:a="http://schemas.openxmlformats.org/drawingml/2006/main" noGrp="1"/>
          </p:cNvSpPr>
          <p:nvPr/>
        </p:nvSpPr>
        <p:spPr>
          <a:xfrm xmlns:a="http://schemas.openxmlformats.org/drawingml/2006/main">
            <a:off x="723900" y="33813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344F61"/>
                </a:solidFill>
                <a:latin typeface="Arial"/>
                <a:ea typeface="Arial"/>
                <a:cs typeface="Arial"/>
              </a:defRPr>
            </a:pPr>
            <a:r>
              <a:rPr sz="2175" b="0">
                <a:solidFill>
                  <a:srgbClr val="344F61"/>
                </a:solidFill>
                <a:latin typeface="Arial"/>
                <a:ea typeface="Arial"/>
                <a:cs typeface="Arial"/>
              </a:rPr>
              <a:t>Each trajectory runs under nominal, noisy, sparse and drifting conditions</a:t>
            </a:r>
          </a:p>
        </p:txBody>
      </p:sp>
      <p:sp>
        <p:nvSpPr>
          <p:cNvPr id="6" name="">
            <a:extLst xmlns:a="http://schemas.openxmlformats.org/drawingml/2006/main">
              <a:ext uri="{FF2B5EF4-FFF2-40B4-BE49-F238E27FC236}">
                <a16:creationId xmlns:a16="http://schemas.microsoft.com/office/drawing/2014/main" id="{FD9B2842-FB83-4FA3-AB04-D93D45DDEFCA}"/>
              </a:ext>
            </a:extLst>
          </p:cNvPr>
          <p:cNvSpPr>
            <a:spLocks xmlns:a="http://schemas.openxmlformats.org/drawingml/2006/main" noGrp="1"/>
          </p:cNvSpPr>
          <p:nvPr/>
        </p:nvSpPr>
        <p:spPr>
          <a:xfrm xmlns:a="http://schemas.openxmlformats.org/drawingml/2006/main">
            <a:off x="723900" y="44767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344F61"/>
                </a:solidFill>
                <a:latin typeface="Arial"/>
                <a:ea typeface="Arial"/>
                <a:cs typeface="Arial"/>
              </a:defRPr>
            </a:pPr>
            <a:r>
              <a:rPr sz="2175" b="0">
                <a:solidFill>
                  <a:srgbClr val="344F61"/>
                </a:solidFill>
                <a:latin typeface="Arial"/>
                <a:ea typeface="Arial"/>
                <a:cs typeface="Arial"/>
              </a:rPr>
              <a:t>10 seconds per run, 20 ms integration, 100 ms prediction</a:t>
            </a:r>
          </a:p>
        </p:txBody>
      </p:sp>
      <p:sp>
        <p:nvSpPr>
          <p:cNvPr id="7" name="">
            <a:extLst xmlns:a="http://schemas.openxmlformats.org/drawingml/2006/main">
              <a:ext uri="{FF2B5EF4-FFF2-40B4-BE49-F238E27FC236}">
                <a16:creationId xmlns:a16="http://schemas.microsoft.com/office/drawing/2014/main" id="{AA52CA32-2245-4527-AFE0-7DBCC7A2A442}"/>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Models learn from estimated states. Entire trajectories remain in a single split.</a:t>
            </a:r>
          </a:p>
        </p:txBody>
      </p:sp>
    </p:spTree>
    <p:extLst>
      <p:ext uri="{BB962C8B-B14F-4D97-AF65-F5344CB8AC3E}">
        <p14:creationId xmlns:p14="http://schemas.microsoft.com/office/powerpoint/2010/main" val="328804328"/>
      </p:ext>
    </p:extLst>
  </p:cSld>
</p:sld>
</file>

<file path=ppt/slides/slide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EBC231-9F35-4EE4-BD61-FED011F3AF99}"/>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Estimated pendulum motion</a:t>
            </a:r>
          </a:p>
        </p:txBody>
      </p:sp>
      <p:sp>
        <p:nvSpPr>
          <p:cNvPr id="2" name="">
            <a:extLst xmlns:a="http://schemas.openxmlformats.org/drawingml/2006/main">
              <a:ext uri="{FF2B5EF4-FFF2-40B4-BE49-F238E27FC236}">
                <a16:creationId xmlns:a16="http://schemas.microsoft.com/office/drawing/2014/main" id="{4527FC1A-4631-47E9-A965-151D7BE5223A}"/>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4</a:t>
            </a:r>
          </a:p>
        </p:txBody>
      </p:sp>
      <p:graphicFrame>
        <p:nvGraphicFramePr>
          <p:cNvPr id="7" name="Chart"/>
          <p:cNvGraphicFramePr/>
          <p:nvPr/>
        </p:nvGraphicFramePr>
        <p:xfrm>
          <a:off xmlns:a="http://schemas.openxmlformats.org/drawingml/2006/main" x="704850" y="1571625"/>
          <a:ext xmlns:a="http://schemas.openxmlformats.org/drawingml/2006/main" cx="10782300" cy="3810000"/>
        </p:xfrm>
        <a:graphic xmlns:a="http://schemas.openxmlformats.org/drawingml/2006/main">
          <a:graphicData uri="http://schemas.openxmlformats.org/drawingml/2006/chart">
            <c:chart xmlns:r="http://schemas.openxmlformats.org/officeDocument/2006/relationships" xmlns:c="http://schemas.openxmlformats.org/drawingml/2006/chart" r:id="Re666fa0c05164d70"/>
          </a:graphicData>
        </a:graphic>
      </p:graphicFrame>
      <p:sp>
        <p:nvSpPr>
          <p:cNvPr id="4" name="">
            <a:extLst xmlns:a="http://schemas.openxmlformats.org/drawingml/2006/main">
              <a:ext uri="{FF2B5EF4-FFF2-40B4-BE49-F238E27FC236}">
                <a16:creationId xmlns:a16="http://schemas.microsoft.com/office/drawing/2014/main" id="{52179143-43DE-484E-9BB6-6F87A535E89D}"/>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The model reconstructs motion from sensor readings, including latent velocity.</a:t>
            </a:r>
          </a:p>
        </p:txBody>
      </p:sp>
    </p:spTree>
    <p:extLst>
      <p:ext uri="{BB962C8B-B14F-4D97-AF65-F5344CB8AC3E}">
        <p14:creationId xmlns:p14="http://schemas.microsoft.com/office/powerpoint/2010/main" val="2112431046"/>
      </p:ext>
    </p:extLst>
  </p:cSld>
</p:sld>
</file>

<file path=ppt/slides/slide5.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39CB04-8576-4412-BBBC-C3B952FE6097}"/>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State-estimation accuracy</a:t>
            </a:r>
          </a:p>
        </p:txBody>
      </p:sp>
      <p:sp>
        <p:nvSpPr>
          <p:cNvPr id="2" name="">
            <a:extLst xmlns:a="http://schemas.openxmlformats.org/drawingml/2006/main">
              <a:ext uri="{FF2B5EF4-FFF2-40B4-BE49-F238E27FC236}">
                <a16:creationId xmlns:a16="http://schemas.microsoft.com/office/drawing/2014/main" id="{4494462C-D83F-43F4-9858-B22FC684CAC4}"/>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5</a:t>
            </a:r>
          </a:p>
        </p:txBody>
      </p:sp>
      <p:graphicFrame>
        <p:nvGraphicFramePr>
          <p:cNvPr id="7" name="Chart"/>
          <p:cNvGraphicFramePr/>
          <p:nvPr/>
        </p:nvGraphicFramePr>
        <p:xfrm>
          <a:off xmlns:a="http://schemas.openxmlformats.org/drawingml/2006/main" x="704850" y="1571625"/>
          <a:ext xmlns:a="http://schemas.openxmlformats.org/drawingml/2006/main" cx="10782300" cy="3810000"/>
        </p:xfrm>
        <a:graphic xmlns:a="http://schemas.openxmlformats.org/drawingml/2006/main">
          <a:graphicData uri="http://schemas.openxmlformats.org/drawingml/2006/chart">
            <c:chart xmlns:r="http://schemas.openxmlformats.org/officeDocument/2006/relationships" xmlns:c="http://schemas.openxmlformats.org/drawingml/2006/chart" r:id="R77d1ae71763c43a2"/>
          </a:graphicData>
        </a:graphic>
      </p:graphicFrame>
      <p:sp>
        <p:nvSpPr>
          <p:cNvPr id="4" name="">
            <a:extLst xmlns:a="http://schemas.openxmlformats.org/drawingml/2006/main">
              <a:ext uri="{FF2B5EF4-FFF2-40B4-BE49-F238E27FC236}">
                <a16:creationId xmlns:a16="http://schemas.microsoft.com/office/drawing/2014/main" id="{EE2A5282-4FAD-4B59-BCFB-1FEDD67AA9DC}"/>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The classical angle sensor gives the lowest RMSE in every tested condition.</a:t>
            </a:r>
          </a:p>
        </p:txBody>
      </p:sp>
    </p:spTree>
    <p:extLst>
      <p:ext uri="{BB962C8B-B14F-4D97-AF65-F5344CB8AC3E}">
        <p14:creationId xmlns:p14="http://schemas.microsoft.com/office/powerpoint/2010/main" val="1664941337"/>
      </p:ext>
    </p:extLst>
  </p:cSld>
</p:sld>
</file>

<file path=ppt/slides/slide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278E8E-E17E-4E9B-B14C-E700F4443D6C}"/>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Ramsey sensing model</a:t>
            </a:r>
          </a:p>
        </p:txBody>
      </p:sp>
      <p:sp>
        <p:nvSpPr>
          <p:cNvPr id="2" name="">
            <a:extLst xmlns:a="http://schemas.openxmlformats.org/drawingml/2006/main">
              <a:ext uri="{FF2B5EF4-FFF2-40B4-BE49-F238E27FC236}">
                <a16:creationId xmlns:a16="http://schemas.microsoft.com/office/drawing/2014/main" id="{8472346D-E063-48EA-BDC7-684F27D61090}"/>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BE231CAF-6981-4C6B-AA22-5A3B7AA9CE79}"/>
              </a:ext>
            </a:extLst>
          </p:cNvPr>
          <p:cNvSpPr>
            <a:spLocks xmlns:a="http://schemas.openxmlformats.org/drawingml/2006/main" noGrp="1"/>
          </p:cNvSpPr>
          <p:nvPr/>
        </p:nvSpPr>
        <p:spPr>
          <a:xfrm xmlns:a="http://schemas.openxmlformats.org/drawingml/2006/main">
            <a:off x="723900" y="1571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67D8D"/>
                </a:solidFill>
                <a:latin typeface="Arial"/>
                <a:ea typeface="Arial"/>
                <a:cs typeface="Arial"/>
              </a:defRPr>
            </a:pPr>
            <a:r>
              <a:rPr sz="2550" b="0">
                <a:solidFill>
                  <a:srgbClr val="167D8D"/>
                </a:solidFill>
                <a:latin typeface="Arial"/>
                <a:ea typeface="Arial"/>
                <a:cs typeface="Arial"/>
              </a:rPr>
              <a:t>Field: B(θ) = G L sin(θ)</a:t>
            </a:r>
          </a:p>
        </p:txBody>
      </p:sp>
      <p:sp>
        <p:nvSpPr>
          <p:cNvPr id="4" name="">
            <a:extLst xmlns:a="http://schemas.openxmlformats.org/drawingml/2006/main">
              <a:ext uri="{FF2B5EF4-FFF2-40B4-BE49-F238E27FC236}">
                <a16:creationId xmlns:a16="http://schemas.microsoft.com/office/drawing/2014/main" id="{7FDE6627-0067-4223-985D-3DE3D823669C}"/>
              </a:ext>
            </a:extLst>
          </p:cNvPr>
          <p:cNvSpPr>
            <a:spLocks xmlns:a="http://schemas.openxmlformats.org/drawingml/2006/main" noGrp="1"/>
          </p:cNvSpPr>
          <p:nvPr/>
        </p:nvSpPr>
        <p:spPr>
          <a:xfrm xmlns:a="http://schemas.openxmlformats.org/drawingml/2006/main">
            <a:off x="723900" y="23717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67D8D"/>
                </a:solidFill>
                <a:latin typeface="Arial"/>
                <a:ea typeface="Arial"/>
                <a:cs typeface="Arial"/>
              </a:defRPr>
            </a:pPr>
            <a:r>
              <a:rPr sz="2550" b="0">
                <a:solidFill>
                  <a:srgbClr val="167D8D"/>
                </a:solidFill>
                <a:latin typeface="Arial"/>
                <a:ea typeface="Arial"/>
                <a:cs typeface="Arial"/>
              </a:rPr>
              <a:t>Phase: φ = γ B τ</a:t>
            </a:r>
          </a:p>
        </p:txBody>
      </p:sp>
      <p:sp>
        <p:nvSpPr>
          <p:cNvPr id="5" name="">
            <a:extLst xmlns:a="http://schemas.openxmlformats.org/drawingml/2006/main">
              <a:ext uri="{FF2B5EF4-FFF2-40B4-BE49-F238E27FC236}">
                <a16:creationId xmlns:a16="http://schemas.microsoft.com/office/drawing/2014/main" id="{9E340DA2-F94D-4DEF-9736-6D2F027CC623}"/>
              </a:ext>
            </a:extLst>
          </p:cNvPr>
          <p:cNvSpPr>
            <a:spLocks xmlns:a="http://schemas.openxmlformats.org/drawingml/2006/main" noGrp="1"/>
          </p:cNvSpPr>
          <p:nvPr/>
        </p:nvSpPr>
        <p:spPr>
          <a:xfrm xmlns:a="http://schemas.openxmlformats.org/drawingml/2006/main">
            <a:off x="723900" y="31718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67D8D"/>
                </a:solidFill>
                <a:latin typeface="Arial"/>
                <a:ea typeface="Arial"/>
                <a:cs typeface="Arial"/>
              </a:defRPr>
            </a:pPr>
            <a:r>
              <a:rPr sz="2550" b="0">
                <a:solidFill>
                  <a:srgbClr val="167D8D"/>
                </a:solidFill>
                <a:latin typeface="Arial"/>
                <a:ea typeface="Arial"/>
                <a:cs typeface="Arial"/>
              </a:rPr>
              <a:t>Readout: p = [1 + V sin(φ − φref)] / 2</a:t>
            </a:r>
          </a:p>
        </p:txBody>
      </p:sp>
      <p:sp>
        <p:nvSpPr>
          <p:cNvPr id="6" name="">
            <a:extLst xmlns:a="http://schemas.openxmlformats.org/drawingml/2006/main">
              <a:ext uri="{FF2B5EF4-FFF2-40B4-BE49-F238E27FC236}">
                <a16:creationId xmlns:a16="http://schemas.microsoft.com/office/drawing/2014/main" id="{18ADBB0F-48AC-42ED-B807-6B73032DA5C3}"/>
              </a:ext>
            </a:extLst>
          </p:cNvPr>
          <p:cNvSpPr>
            <a:spLocks xmlns:a="http://schemas.openxmlformats.org/drawingml/2006/main" noGrp="1"/>
          </p:cNvSpPr>
          <p:nvPr/>
        </p:nvSpPr>
        <p:spPr>
          <a:xfrm xmlns:a="http://schemas.openxmlformats.org/drawingml/2006/main">
            <a:off x="723900" y="4095750"/>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344F61"/>
                </a:solidFill>
                <a:latin typeface="Arial"/>
                <a:ea typeface="Arial"/>
                <a:cs typeface="Arial"/>
              </a:defRPr>
            </a:pPr>
            <a:r>
              <a:rPr sz="2175" b="0">
                <a:solidFill>
                  <a:srgbClr val="344F61"/>
                </a:solidFill>
                <a:latin typeface="Arial"/>
                <a:ea typeface="Arial"/>
                <a:cs typeface="Arial"/>
              </a:rPr>
              <a:t>The filter updates with finite-shot outcomes. Adaptive settings seek more Fisher information at the predicted angle.</a:t>
            </a:r>
          </a:p>
        </p:txBody>
      </p:sp>
      <p:sp>
        <p:nvSpPr>
          <p:cNvPr id="7" name="">
            <a:extLst xmlns:a="http://schemas.openxmlformats.org/drawingml/2006/main">
              <a:ext uri="{FF2B5EF4-FFF2-40B4-BE49-F238E27FC236}">
                <a16:creationId xmlns:a16="http://schemas.microsoft.com/office/drawing/2014/main" id="{D82CB490-89CE-42A3-8D4A-1CD62510B742}"/>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Assumptions: an illustrative field gradient, dephasing and ideal parallel spin readout.</a:t>
            </a:r>
          </a:p>
        </p:txBody>
      </p:sp>
    </p:spTree>
    <p:extLst>
      <p:ext uri="{BB962C8B-B14F-4D97-AF65-F5344CB8AC3E}">
        <p14:creationId xmlns:p14="http://schemas.microsoft.com/office/powerpoint/2010/main" val="623532919"/>
      </p:ext>
    </p:extLst>
  </p:cSld>
</p:sld>
</file>

<file path=ppt/slides/slide7.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4434FC-12CE-493C-927E-C509DB0CF9BC}"/>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Adaptive settings improve Ramsey precision</a:t>
            </a:r>
          </a:p>
        </p:txBody>
      </p:sp>
      <p:sp>
        <p:nvSpPr>
          <p:cNvPr id="2" name="">
            <a:extLst xmlns:a="http://schemas.openxmlformats.org/drawingml/2006/main">
              <a:ext uri="{FF2B5EF4-FFF2-40B4-BE49-F238E27FC236}">
                <a16:creationId xmlns:a16="http://schemas.microsoft.com/office/drawing/2014/main" id="{55D50948-4210-4EFF-A6B3-FACA7A77367A}"/>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7</a:t>
            </a:r>
          </a:p>
        </p:txBody>
      </p:sp>
      <p:graphicFrame>
        <p:nvGraphicFramePr>
          <p:cNvPr id="7" name="Chart"/>
          <p:cNvGraphicFramePr/>
          <p:nvPr/>
        </p:nvGraphicFramePr>
        <p:xfrm>
          <a:off xmlns:a="http://schemas.openxmlformats.org/drawingml/2006/main" x="704850" y="1571625"/>
          <a:ext xmlns:a="http://schemas.openxmlformats.org/drawingml/2006/main" cx="10782300" cy="3810000"/>
        </p:xfrm>
        <a:graphic xmlns:a="http://schemas.openxmlformats.org/drawingml/2006/main">
          <a:graphicData uri="http://schemas.openxmlformats.org/drawingml/2006/chart">
            <c:chart xmlns:r="http://schemas.openxmlformats.org/officeDocument/2006/relationships" xmlns:c="http://schemas.openxmlformats.org/drawingml/2006/chart" r:id="R284befb03f1c4dd5"/>
          </a:graphicData>
        </a:graphic>
      </p:graphicFrame>
      <p:sp>
        <p:nvSpPr>
          <p:cNvPr id="4" name="">
            <a:extLst xmlns:a="http://schemas.openxmlformats.org/drawingml/2006/main">
              <a:ext uri="{FF2B5EF4-FFF2-40B4-BE49-F238E27FC236}">
                <a16:creationId xmlns:a16="http://schemas.microsoft.com/office/drawing/2014/main" id="{B0215673-FFE4-4A31-9580-3BF966AE160D}"/>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Matched shots improve interpretability. Longer interrogation also adds resource cost.</a:t>
            </a:r>
          </a:p>
        </p:txBody>
      </p:sp>
    </p:spTree>
    <p:extLst>
      <p:ext uri="{BB962C8B-B14F-4D97-AF65-F5344CB8AC3E}">
        <p14:creationId xmlns:p14="http://schemas.microsoft.com/office/powerpoint/2010/main" val="1313042704"/>
      </p:ext>
    </p:extLst>
  </p:cSld>
</p:sld>
</file>

<file path=ppt/slides/slide8.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E99CE6-2CF0-4A7A-9C00-09FE906CFECC}"/>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Prediction models</a:t>
            </a:r>
          </a:p>
        </p:txBody>
      </p:sp>
      <p:sp>
        <p:nvSpPr>
          <p:cNvPr id="2" name="">
            <a:extLst xmlns:a="http://schemas.openxmlformats.org/drawingml/2006/main">
              <a:ext uri="{FF2B5EF4-FFF2-40B4-BE49-F238E27FC236}">
                <a16:creationId xmlns:a16="http://schemas.microsoft.com/office/drawing/2014/main" id="{55500132-3F7D-4156-8E5D-0F0DDE9BAADE}"/>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8</a:t>
            </a:r>
          </a:p>
        </p:txBody>
      </p:sp>
      <p:graphicFrame>
        <p:nvGraphicFramePr>
          <p:cNvPr id="7" name=""/>
          <p:cNvGraphicFramePr/>
          <p:nvPr/>
        </p:nvGraphicFramePr>
        <p:xfrm>
          <a:off xmlns:a="http://schemas.openxmlformats.org/drawingml/2006/main" x="704850" y="1524000"/>
          <a:ext xmlns:a="http://schemas.openxmlformats.org/drawingml/2006/main" cx="10782300" cy="3714750"/>
        </p:xfrm>
        <a:graphic xmlns:a="http://schemas.openxmlformats.org/drawingml/2006/main">
          <a:graphicData uri="http://schemas.openxmlformats.org/drawingml/2006/table">
            <a:tbl>
              <a:tblPr/>
              <a:tblGrid>
                <a:gridCol w="1905000"/>
                <a:gridCol w="4381500"/>
                <a:gridCol w="4495800"/>
              </a:tblGrid>
              <a:tr h="619125">
                <a:tc>
                  <a:txBody>
                    <a:bodyPr/>
                    <a:lstStyle/>
                    <a:p>
                      <a:r>
                        <a:rPr sz="1875" b="1">
                          <a:solidFill>
                            <a:srgbClr val="FFFFFF"/>
                          </a:solidFill>
                          <a:latin typeface="Arial"/>
                          <a:ea typeface="Arial"/>
                          <a:cs typeface="Arial"/>
                        </a:rPr>
                        <a:t>Component</a:t>
                      </a:r>
                    </a:p>
                  </a:txBody>
                  <a:tcPr marL="91440" marR="91440" marT="45720" marB="45720">
                    <a:solidFill>
                      <a:srgbClr val="173247"/>
                    </a:solidFill>
                  </a:tcPr>
                </a:tc>
                <a:tc>
                  <a:txBody>
                    <a:bodyPr/>
                    <a:lstStyle/>
                    <a:p>
                      <a:r>
                        <a:rPr sz="1875" b="1">
                          <a:solidFill>
                            <a:srgbClr val="FFFFFF"/>
                          </a:solidFill>
                          <a:latin typeface="Arial"/>
                          <a:ea typeface="Arial"/>
                          <a:cs typeface="Arial"/>
                        </a:rPr>
                        <a:t>Classical models</a:t>
                      </a:r>
                    </a:p>
                  </a:txBody>
                  <a:tcPr marL="91440" marR="91440" marT="45720" marB="45720">
                    <a:solidFill>
                      <a:srgbClr val="173247"/>
                    </a:solidFill>
                  </a:tcPr>
                </a:tc>
                <a:tc>
                  <a:txBody>
                    <a:bodyPr/>
                    <a:lstStyle/>
                    <a:p>
                      <a:r>
                        <a:rPr sz="1875" b="1">
                          <a:solidFill>
                            <a:srgbClr val="FFFFFF"/>
                          </a:solidFill>
                          <a:latin typeface="Arial"/>
                          <a:ea typeface="Arial"/>
                          <a:cs typeface="Arial"/>
                        </a:rPr>
                        <a:t>Quantum model</a:t>
                      </a:r>
                    </a:p>
                  </a:txBody>
                  <a:tcPr marL="91440" marR="91440" marT="45720" marB="45720">
                    <a:solidFill>
                      <a:srgbClr val="173247"/>
                    </a:solidFill>
                  </a:tcPr>
                </a:tc>
              </a:tr>
              <a:tr h="619125">
                <a:tc>
                  <a:txBody>
                    <a:bodyPr/>
                    <a:lstStyle/>
                    <a:p>
                      <a:r>
                        <a:rPr sz="1875" b="0">
                          <a:solidFill>
                            <a:srgbClr val="344F61"/>
                          </a:solidFill>
                          <a:latin typeface="Arial"/>
                          <a:ea typeface="Arial"/>
                          <a:cs typeface="Arial"/>
                        </a:rPr>
                        <a:t>Mapping</a:t>
                      </a:r>
                    </a:p>
                  </a:txBody>
                  <a:tcPr marL="91440" marR="91440" marT="45720" marB="45720">
                    <a:solidFill>
                      <a:srgbClr val="FFFFFF"/>
                    </a:solidFill>
                  </a:tcPr>
                </a:tc>
                <a:tc>
                  <a:txBody>
                    <a:bodyPr/>
                    <a:lstStyle/>
                    <a:p>
                      <a:r>
                        <a:rPr sz="1875" b="0">
                          <a:solidFill>
                            <a:srgbClr val="344F61"/>
                          </a:solidFill>
                          <a:latin typeface="Arial"/>
                          <a:ea typeface="Arial"/>
                          <a:cs typeface="Arial"/>
                        </a:rPr>
                        <a:t>Polynomial features or RBF</a:t>
                      </a:r>
                    </a:p>
                  </a:txBody>
                  <a:tcPr marL="91440" marR="91440" marT="45720" marB="45720">
                    <a:solidFill>
                      <a:srgbClr val="FFFFFF"/>
                    </a:solidFill>
                  </a:tcPr>
                </a:tc>
                <a:tc>
                  <a:txBody>
                    <a:bodyPr/>
                    <a:lstStyle/>
                    <a:p>
                      <a:r>
                        <a:rPr sz="1875" b="0">
                          <a:solidFill>
                            <a:srgbClr val="344F61"/>
                          </a:solidFill>
                          <a:latin typeface="Arial"/>
                          <a:ea typeface="Arial"/>
                          <a:cs typeface="Arial"/>
                        </a:rPr>
                        <a:t>Two-qubit feature circuit</a:t>
                      </a:r>
                    </a:p>
                  </a:txBody>
                  <a:tcPr marL="91440" marR="91440" marT="45720" marB="45720">
                    <a:solidFill>
                      <a:srgbClr val="FFFFFF"/>
                    </a:solidFill>
                  </a:tcPr>
                </a:tc>
              </a:tr>
              <a:tr h="619125">
                <a:tc>
                  <a:txBody>
                    <a:bodyPr/>
                    <a:lstStyle/>
                    <a:p>
                      <a:r>
                        <a:rPr sz="1875" b="0">
                          <a:solidFill>
                            <a:srgbClr val="344F61"/>
                          </a:solidFill>
                          <a:latin typeface="Arial"/>
                          <a:ea typeface="Arial"/>
                          <a:cs typeface="Arial"/>
                        </a:rPr>
                        <a:t>Learning</a:t>
                      </a:r>
                    </a:p>
                  </a:txBody>
                  <a:tcPr marL="91440" marR="91440" marT="45720" marB="45720">
                    <a:solidFill>
                      <a:srgbClr val="EDF3F4"/>
                    </a:solidFill>
                  </a:tcPr>
                </a:tc>
                <a:tc>
                  <a:txBody>
                    <a:bodyPr/>
                    <a:lstStyle/>
                    <a:p>
                      <a:r>
                        <a:rPr sz="1875" b="0">
                          <a:solidFill>
                            <a:srgbClr val="344F61"/>
                          </a:solidFill>
                          <a:latin typeface="Arial"/>
                          <a:ea typeface="Arial"/>
                          <a:cs typeface="Arial"/>
                        </a:rPr>
                        <a:t>Ridge regression</a:t>
                      </a:r>
                    </a:p>
                  </a:txBody>
                  <a:tcPr marL="91440" marR="91440" marT="45720" marB="45720">
                    <a:solidFill>
                      <a:srgbClr val="EDF3F4"/>
                    </a:solidFill>
                  </a:tcPr>
                </a:tc>
                <a:tc>
                  <a:txBody>
                    <a:bodyPr/>
                    <a:lstStyle/>
                    <a:p>
                      <a:r>
                        <a:rPr sz="1875" b="0">
                          <a:solidFill>
                            <a:srgbClr val="344F61"/>
                          </a:solidFill>
                          <a:latin typeface="Arial"/>
                          <a:ea typeface="Arial"/>
                          <a:cs typeface="Arial"/>
                        </a:rPr>
                        <a:t>Fidelity kernel regression</a:t>
                      </a:r>
                    </a:p>
                  </a:txBody>
                  <a:tcPr marL="91440" marR="91440" marT="45720" marB="45720">
                    <a:solidFill>
                      <a:srgbClr val="EDF3F4"/>
                    </a:solidFill>
                  </a:tcPr>
                </a:tc>
              </a:tr>
              <a:tr h="619125">
                <a:tc>
                  <a:txBody>
                    <a:bodyPr/>
                    <a:lstStyle/>
                    <a:p>
                      <a:r>
                        <a:rPr sz="1875" b="0">
                          <a:solidFill>
                            <a:srgbClr val="344F61"/>
                          </a:solidFill>
                          <a:latin typeface="Arial"/>
                          <a:ea typeface="Arial"/>
                          <a:cs typeface="Arial"/>
                        </a:rPr>
                        <a:t>Selection</a:t>
                      </a:r>
                    </a:p>
                  </a:txBody>
                  <a:tcPr marL="91440" marR="91440" marT="45720" marB="45720">
                    <a:solidFill>
                      <a:srgbClr val="FFFFFF"/>
                    </a:solidFill>
                  </a:tcPr>
                </a:tc>
                <a:tc>
                  <a:txBody>
                    <a:bodyPr/>
                    <a:lstStyle/>
                    <a:p>
                      <a:r>
                        <a:rPr sz="1875" b="0">
                          <a:solidFill>
                            <a:srgbClr val="344F61"/>
                          </a:solidFill>
                          <a:latin typeface="Arial"/>
                          <a:ea typeface="Arial"/>
                          <a:cs typeface="Arial"/>
                        </a:rPr>
                        <a:t>Held-out validation error</a:t>
                      </a:r>
                    </a:p>
                  </a:txBody>
                  <a:tcPr marL="91440" marR="91440" marT="45720" marB="45720">
                    <a:solidFill>
                      <a:srgbClr val="FFFFFF"/>
                    </a:solidFill>
                  </a:tcPr>
                </a:tc>
                <a:tc>
                  <a:txBody>
                    <a:bodyPr/>
                    <a:lstStyle/>
                    <a:p>
                      <a:r>
                        <a:rPr sz="1875" b="0">
                          <a:solidFill>
                            <a:srgbClr val="344F61"/>
                          </a:solidFill>
                          <a:latin typeface="Arial"/>
                          <a:ea typeface="Arial"/>
                          <a:cs typeface="Arial"/>
                        </a:rPr>
                        <a:t>Held-out validation error</a:t>
                      </a:r>
                    </a:p>
                  </a:txBody>
                  <a:tcPr marL="91440" marR="91440" marT="45720" marB="45720">
                    <a:solidFill>
                      <a:srgbClr val="FFFFFF"/>
                    </a:solidFill>
                  </a:tcPr>
                </a:tc>
              </a:tr>
              <a:tr h="619125">
                <a:tc>
                  <a:txBody>
                    <a:bodyPr/>
                    <a:lstStyle/>
                    <a:p>
                      <a:r>
                        <a:rPr sz="1875" b="0">
                          <a:solidFill>
                            <a:srgbClr val="344F61"/>
                          </a:solidFill>
                          <a:latin typeface="Arial"/>
                          <a:ea typeface="Arial"/>
                          <a:cs typeface="Arial"/>
                        </a:rPr>
                        <a:t>Training</a:t>
                      </a:r>
                    </a:p>
                  </a:txBody>
                  <a:tcPr marL="91440" marR="91440" marT="45720" marB="45720">
                    <a:solidFill>
                      <a:srgbClr val="EDF3F4"/>
                    </a:solidFill>
                  </a:tcPr>
                </a:tc>
                <a:tc>
                  <a:txBody>
                    <a:bodyPr/>
                    <a:lstStyle/>
                    <a:p>
                      <a:r>
                        <a:rPr sz="1875" b="0">
                          <a:solidFill>
                            <a:srgbClr val="344F61"/>
                          </a:solidFill>
                          <a:latin typeface="Arial"/>
                          <a:ea typeface="Arial"/>
                          <a:cs typeface="Arial"/>
                        </a:rPr>
                        <a:t>256 estimated-state pairs</a:t>
                      </a:r>
                    </a:p>
                  </a:txBody>
                  <a:tcPr marL="91440" marR="91440" marT="45720" marB="45720">
                    <a:solidFill>
                      <a:srgbClr val="EDF3F4"/>
                    </a:solidFill>
                  </a:tcPr>
                </a:tc>
                <a:tc>
                  <a:txBody>
                    <a:bodyPr/>
                    <a:lstStyle/>
                    <a:p>
                      <a:r>
                        <a:rPr sz="1875" b="0">
                          <a:solidFill>
                            <a:srgbClr val="344F61"/>
                          </a:solidFill>
                          <a:latin typeface="Arial"/>
                          <a:ea typeface="Arial"/>
                          <a:cs typeface="Arial"/>
                        </a:rPr>
                        <a:t>Same pair budget</a:t>
                      </a:r>
                    </a:p>
                  </a:txBody>
                  <a:tcPr marL="91440" marR="91440" marT="45720" marB="45720">
                    <a:solidFill>
                      <a:srgbClr val="EDF3F4"/>
                    </a:solidFill>
                  </a:tcPr>
                </a:tc>
              </a:tr>
              <a:tr h="619125">
                <a:tc>
                  <a:txBody>
                    <a:bodyPr/>
                    <a:lstStyle/>
                    <a:p>
                      <a:r>
                        <a:rPr sz="1875" b="0">
                          <a:solidFill>
                            <a:srgbClr val="344F61"/>
                          </a:solidFill>
                          <a:latin typeface="Arial"/>
                          <a:ea typeface="Arial"/>
                          <a:cs typeface="Arial"/>
                        </a:rPr>
                        <a:t>Resources</a:t>
                      </a:r>
                    </a:p>
                  </a:txBody>
                  <a:tcPr marL="91440" marR="91440" marT="45720" marB="45720">
                    <a:solidFill>
                      <a:srgbClr val="FFFFFF"/>
                    </a:solidFill>
                  </a:tcPr>
                </a:tc>
                <a:tc>
                  <a:txBody>
                    <a:bodyPr/>
                    <a:lstStyle/>
                    <a:p>
                      <a:r>
                        <a:rPr sz="1875" b="0">
                          <a:solidFill>
                            <a:srgbClr val="344F61"/>
                          </a:solidFill>
                          <a:latin typeface="Arial"/>
                          <a:ea typeface="Arial"/>
                          <a:cs typeface="Arial"/>
                        </a:rPr>
                        <a:t>CPU computation</a:t>
                      </a:r>
                    </a:p>
                  </a:txBody>
                  <a:tcPr marL="91440" marR="91440" marT="45720" marB="45720">
                    <a:solidFill>
                      <a:srgbClr val="FFFFFF"/>
                    </a:solidFill>
                  </a:tcPr>
                </a:tc>
                <a:tc>
                  <a:txBody>
                    <a:bodyPr/>
                    <a:lstStyle/>
                    <a:p>
                      <a:r>
                        <a:rPr sz="1875" b="0">
                          <a:solidFill>
                            <a:srgbClr val="344F61"/>
                          </a:solidFill>
                          <a:latin typeface="Arial"/>
                          <a:ea typeface="Arial"/>
                          <a:cs typeface="Arial"/>
                        </a:rPr>
                        <a:t>6 single-qubit gates, 2 CNOTs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81540BD-019E-4538-87C8-162ABB008DF0}"/>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Exact statevector simulation uses four amplitudes and establishes no speed advantage.</a:t>
            </a:r>
          </a:p>
        </p:txBody>
      </p:sp>
    </p:spTree>
    <p:extLst>
      <p:ext uri="{BB962C8B-B14F-4D97-AF65-F5344CB8AC3E}">
        <p14:creationId xmlns:p14="http://schemas.microsoft.com/office/powerpoint/2010/main" val="1084260183"/>
      </p:ext>
    </p:extLst>
  </p:cSld>
</p:sld>
</file>

<file path=ppt/slides/slide9.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E7EF45-FA3D-4749-8890-0D66737C1F43}"/>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Four-way comparison: 100 ms prediction</a:t>
            </a:r>
          </a:p>
        </p:txBody>
      </p:sp>
      <p:sp>
        <p:nvSpPr>
          <p:cNvPr id="2" name="">
            <a:extLst xmlns:a="http://schemas.openxmlformats.org/drawingml/2006/main">
              <a:ext uri="{FF2B5EF4-FFF2-40B4-BE49-F238E27FC236}">
                <a16:creationId xmlns:a16="http://schemas.microsoft.com/office/drawing/2014/main" id="{442D1F2B-D186-4042-9903-3E6753CA59EC}"/>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DAEC2A18-AB9E-4631-BCEA-734AF5D79FE5}"/>
              </a:ext>
            </a:extLst>
          </p:cNvPr>
          <p:cNvSpPr>
            <a:spLocks xmlns:a="http://schemas.openxmlformats.org/drawingml/2006/main" noGrp="1"/>
          </p:cNvSpPr>
          <p:nvPr/>
        </p:nvSpPr>
        <p:spPr>
          <a:xfrm xmlns:a="http://schemas.openxmlformats.org/drawingml/2006/main">
            <a:off x="742950" y="1238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344F61"/>
                </a:solidFill>
                <a:latin typeface="Arial"/>
                <a:ea typeface="Arial"/>
                <a:cs typeface="Arial"/>
              </a:defRPr>
            </a:pPr>
            <a:r>
              <a:rPr sz="1650" b="0">
                <a:solidFill>
                  <a:srgbClr val="344F61"/>
                </a:solidFill>
                <a:latin typeface="Arial"/>
                <a:ea typeface="Arial"/>
                <a:cs typeface="Arial"/>
              </a:rPr>
              <a:t>Angle RMSE (degrees), mean of four test trajectories</a:t>
            </a:r>
          </a:p>
        </p:txBody>
      </p:sp>
      <p:graphicFrame>
        <p:nvGraphicFramePr>
          <p:cNvPr id="9" name=""/>
          <p:cNvGraphicFramePr/>
          <p:nvPr/>
        </p:nvGraphicFramePr>
        <p:xfrm>
          <a:off xmlns:a="http://schemas.openxmlformats.org/drawingml/2006/main" x="704850" y="1666875"/>
          <a:ext xmlns:a="http://schemas.openxmlformats.org/drawingml/2006/main" cx="10782300" cy="2952750"/>
        </p:xfrm>
        <a:graphic xmlns:a="http://schemas.openxmlformats.org/drawingml/2006/main">
          <a:graphicData uri="http://schemas.openxmlformats.org/drawingml/2006/table">
            <a:tbl>
              <a:tblPr/>
              <a:tblGrid>
                <a:gridCol w="3429000"/>
                <a:gridCol w="1838325"/>
                <a:gridCol w="1838325"/>
                <a:gridCol w="1838325"/>
                <a:gridCol w="1838325"/>
              </a:tblGrid>
              <a:tr h="590550">
                <a:tc>
                  <a:txBody>
                    <a:bodyPr/>
                    <a:lstStyle/>
                    <a:p>
                      <a:r>
                        <a:rPr sz="1950" b="1">
                          <a:solidFill>
                            <a:srgbClr val="FFFFFF"/>
                          </a:solidFill>
                          <a:latin typeface="Arial"/>
                          <a:ea typeface="Arial"/>
                          <a:cs typeface="Arial"/>
                        </a:rPr>
                        <a:t>Estimator + model</a:t>
                      </a:r>
                    </a:p>
                  </a:txBody>
                  <a:tcPr marL="91440" marR="91440" marT="45720" marB="45720">
                    <a:solidFill>
                      <a:srgbClr val="173247"/>
                    </a:solidFill>
                  </a:tcPr>
                </a:tc>
                <a:tc>
                  <a:txBody>
                    <a:bodyPr/>
                    <a:lstStyle/>
                    <a:p>
                      <a:r>
                        <a:rPr sz="1950" b="1">
                          <a:solidFill>
                            <a:srgbClr val="FFFFFF"/>
                          </a:solidFill>
                          <a:latin typeface="Arial"/>
                          <a:ea typeface="Arial"/>
                          <a:cs typeface="Arial"/>
                        </a:rPr>
                        <a:t>Nominal</a:t>
                      </a:r>
                    </a:p>
                  </a:txBody>
                  <a:tcPr marL="91440" marR="91440" marT="45720" marB="45720">
                    <a:solidFill>
                      <a:srgbClr val="173247"/>
                    </a:solidFill>
                  </a:tcPr>
                </a:tc>
                <a:tc>
                  <a:txBody>
                    <a:bodyPr/>
                    <a:lstStyle/>
                    <a:p>
                      <a:r>
                        <a:rPr sz="1950" b="1">
                          <a:solidFill>
                            <a:srgbClr val="FFFFFF"/>
                          </a:solidFill>
                          <a:latin typeface="Arial"/>
                          <a:ea typeface="Arial"/>
                          <a:cs typeface="Arial"/>
                        </a:rPr>
                        <a:t>High noise</a:t>
                      </a:r>
                    </a:p>
                  </a:txBody>
                  <a:tcPr marL="91440" marR="91440" marT="45720" marB="45720">
                    <a:solidFill>
                      <a:srgbClr val="173247"/>
                    </a:solidFill>
                  </a:tcPr>
                </a:tc>
                <a:tc>
                  <a:txBody>
                    <a:bodyPr/>
                    <a:lstStyle/>
                    <a:p>
                      <a:r>
                        <a:rPr sz="1950" b="1">
                          <a:solidFill>
                            <a:srgbClr val="FFFFFF"/>
                          </a:solidFill>
                          <a:latin typeface="Arial"/>
                          <a:ea typeface="Arial"/>
                          <a:cs typeface="Arial"/>
                        </a:rPr>
                        <a:t>Sparse</a:t>
                      </a:r>
                    </a:p>
                  </a:txBody>
                  <a:tcPr marL="91440" marR="91440" marT="45720" marB="45720">
                    <a:solidFill>
                      <a:srgbClr val="173247"/>
                    </a:solidFill>
                  </a:tcPr>
                </a:tc>
                <a:tc>
                  <a:txBody>
                    <a:bodyPr/>
                    <a:lstStyle/>
                    <a:p>
                      <a:r>
                        <a:rPr sz="1950" b="1">
                          <a:solidFill>
                            <a:srgbClr val="FFFFFF"/>
                          </a:solidFill>
                          <a:latin typeface="Arial"/>
                          <a:ea typeface="Arial"/>
                          <a:cs typeface="Arial"/>
                        </a:rPr>
                        <a:t>Drift</a:t>
                      </a:r>
                    </a:p>
                  </a:txBody>
                  <a:tcPr marL="91440" marR="91440" marT="45720" marB="45720">
                    <a:solidFill>
                      <a:srgbClr val="173247"/>
                    </a:solidFill>
                  </a:tcPr>
                </a:tc>
              </a:tr>
              <a:tr h="590550">
                <a:tc>
                  <a:txBody>
                    <a:bodyPr/>
                    <a:lstStyle/>
                    <a:p>
                      <a:r>
                        <a:rPr sz="1950" b="0">
                          <a:solidFill>
                            <a:srgbClr val="344F61"/>
                          </a:solidFill>
                          <a:latin typeface="Arial"/>
                          <a:ea typeface="Arial"/>
                          <a:cs typeface="Arial"/>
                        </a:rPr>
                        <a:t>Angle + classical</a:t>
                      </a:r>
                    </a:p>
                  </a:txBody>
                  <a:tcPr marL="91440" marR="91440" marT="45720" marB="45720">
                    <a:solidFill>
                      <a:srgbClr val="FFFFFF"/>
                    </a:solidFill>
                  </a:tcPr>
                </a:tc>
                <a:tc>
                  <a:txBody>
                    <a:bodyPr/>
                    <a:lstStyle/>
                    <a:p>
                      <a:r>
                        <a:rPr sz="1950" b="0">
                          <a:solidFill>
                            <a:srgbClr val="344F61"/>
                          </a:solidFill>
                          <a:latin typeface="Arial"/>
                          <a:ea typeface="Arial"/>
                          <a:cs typeface="Arial"/>
                        </a:rPr>
                        <a:t>0.31</a:t>
                      </a:r>
                    </a:p>
                  </a:txBody>
                  <a:tcPr marL="91440" marR="91440" marT="45720" marB="45720">
                    <a:solidFill>
                      <a:srgbClr val="FFFFFF"/>
                    </a:solidFill>
                  </a:tcPr>
                </a:tc>
                <a:tc>
                  <a:txBody>
                    <a:bodyPr/>
                    <a:lstStyle/>
                    <a:p>
                      <a:r>
                        <a:rPr sz="1950" b="0">
                          <a:solidFill>
                            <a:srgbClr val="344F61"/>
                          </a:solidFill>
                          <a:latin typeface="Arial"/>
                          <a:ea typeface="Arial"/>
                          <a:cs typeface="Arial"/>
                        </a:rPr>
                        <a:t>0.92</a:t>
                      </a:r>
                    </a:p>
                  </a:txBody>
                  <a:tcPr marL="91440" marR="91440" marT="45720" marB="45720">
                    <a:solidFill>
                      <a:srgbClr val="FFFFFF"/>
                    </a:solidFill>
                  </a:tcPr>
                </a:tc>
                <a:tc>
                  <a:txBody>
                    <a:bodyPr/>
                    <a:lstStyle/>
                    <a:p>
                      <a:r>
                        <a:rPr sz="1950" b="0">
                          <a:solidFill>
                            <a:srgbClr val="344F61"/>
                          </a:solidFill>
                          <a:latin typeface="Arial"/>
                          <a:ea typeface="Arial"/>
                          <a:cs typeface="Arial"/>
                        </a:rPr>
                        <a:t>0.58</a:t>
                      </a:r>
                    </a:p>
                  </a:txBody>
                  <a:tcPr marL="91440" marR="91440" marT="45720" marB="45720">
                    <a:solidFill>
                      <a:srgbClr val="FFFFFF"/>
                    </a:solidFill>
                  </a:tcPr>
                </a:tc>
                <a:tc>
                  <a:txBody>
                    <a:bodyPr/>
                    <a:lstStyle/>
                    <a:p>
                      <a:r>
                        <a:rPr sz="1950" b="0">
                          <a:solidFill>
                            <a:srgbClr val="344F61"/>
                          </a:solidFill>
                          <a:latin typeface="Arial"/>
                          <a:ea typeface="Arial"/>
                          <a:cs typeface="Arial"/>
                        </a:rPr>
                        <a:t>0.41</a:t>
                      </a:r>
                    </a:p>
                  </a:txBody>
                  <a:tcPr marL="91440" marR="91440" marT="45720" marB="45720">
                    <a:solidFill>
                      <a:srgbClr val="FFFFFF"/>
                    </a:solidFill>
                  </a:tcPr>
                </a:tc>
              </a:tr>
              <a:tr h="590550">
                <a:tc>
                  <a:txBody>
                    <a:bodyPr/>
                    <a:lstStyle/>
                    <a:p>
                      <a:r>
                        <a:rPr sz="1950" b="0">
                          <a:solidFill>
                            <a:srgbClr val="344F61"/>
                          </a:solidFill>
                          <a:latin typeface="Arial"/>
                          <a:ea typeface="Arial"/>
                          <a:cs typeface="Arial"/>
                        </a:rPr>
                        <a:t>Angle + quantum</a:t>
                      </a:r>
                    </a:p>
                  </a:txBody>
                  <a:tcPr marL="91440" marR="91440" marT="45720" marB="45720">
                    <a:solidFill>
                      <a:srgbClr val="EDF3F4"/>
                    </a:solidFill>
                  </a:tcPr>
                </a:tc>
                <a:tc>
                  <a:txBody>
                    <a:bodyPr/>
                    <a:lstStyle/>
                    <a:p>
                      <a:r>
                        <a:rPr sz="1950" b="0">
                          <a:solidFill>
                            <a:srgbClr val="344F61"/>
                          </a:solidFill>
                          <a:latin typeface="Arial"/>
                          <a:ea typeface="Arial"/>
                          <a:cs typeface="Arial"/>
                        </a:rPr>
                        <a:t>0.88</a:t>
                      </a:r>
                    </a:p>
                  </a:txBody>
                  <a:tcPr marL="91440" marR="91440" marT="45720" marB="45720">
                    <a:solidFill>
                      <a:srgbClr val="EDF3F4"/>
                    </a:solidFill>
                  </a:tcPr>
                </a:tc>
                <a:tc>
                  <a:txBody>
                    <a:bodyPr/>
                    <a:lstStyle/>
                    <a:p>
                      <a:r>
                        <a:rPr sz="1950" b="0">
                          <a:solidFill>
                            <a:srgbClr val="344F61"/>
                          </a:solidFill>
                          <a:latin typeface="Arial"/>
                          <a:ea typeface="Arial"/>
                          <a:cs typeface="Arial"/>
                        </a:rPr>
                        <a:t>1.22</a:t>
                      </a:r>
                    </a:p>
                  </a:txBody>
                  <a:tcPr marL="91440" marR="91440" marT="45720" marB="45720">
                    <a:solidFill>
                      <a:srgbClr val="EDF3F4"/>
                    </a:solidFill>
                  </a:tcPr>
                </a:tc>
                <a:tc>
                  <a:txBody>
                    <a:bodyPr/>
                    <a:lstStyle/>
                    <a:p>
                      <a:r>
                        <a:rPr sz="1950" b="0">
                          <a:solidFill>
                            <a:srgbClr val="344F61"/>
                          </a:solidFill>
                          <a:latin typeface="Arial"/>
                          <a:ea typeface="Arial"/>
                          <a:cs typeface="Arial"/>
                        </a:rPr>
                        <a:t>1.08</a:t>
                      </a:r>
                    </a:p>
                  </a:txBody>
                  <a:tcPr marL="91440" marR="91440" marT="45720" marB="45720">
                    <a:solidFill>
                      <a:srgbClr val="EDF3F4"/>
                    </a:solidFill>
                  </a:tcPr>
                </a:tc>
                <a:tc>
                  <a:txBody>
                    <a:bodyPr/>
                    <a:lstStyle/>
                    <a:p>
                      <a:r>
                        <a:rPr sz="1950" b="0">
                          <a:solidFill>
                            <a:srgbClr val="344F61"/>
                          </a:solidFill>
                          <a:latin typeface="Arial"/>
                          <a:ea typeface="Arial"/>
                          <a:cs typeface="Arial"/>
                        </a:rPr>
                        <a:t>0.98</a:t>
                      </a:r>
                    </a:p>
                  </a:txBody>
                  <a:tcPr marL="91440" marR="91440" marT="45720" marB="45720">
                    <a:solidFill>
                      <a:srgbClr val="EDF3F4"/>
                    </a:solidFill>
                  </a:tcPr>
                </a:tc>
              </a:tr>
              <a:tr h="590550">
                <a:tc>
                  <a:txBody>
                    <a:bodyPr/>
                    <a:lstStyle/>
                    <a:p>
                      <a:r>
                        <a:rPr sz="1950" b="0">
                          <a:solidFill>
                            <a:srgbClr val="344F61"/>
                          </a:solidFill>
                          <a:latin typeface="Arial"/>
                          <a:ea typeface="Arial"/>
                          <a:cs typeface="Arial"/>
                        </a:rPr>
                        <a:t>Ramsey + classical</a:t>
                      </a:r>
                    </a:p>
                  </a:txBody>
                  <a:tcPr marL="91440" marR="91440" marT="45720" marB="45720">
                    <a:solidFill>
                      <a:srgbClr val="FFFFFF"/>
                    </a:solidFill>
                  </a:tcPr>
                </a:tc>
                <a:tc>
                  <a:txBody>
                    <a:bodyPr/>
                    <a:lstStyle/>
                    <a:p>
                      <a:r>
                        <a:rPr sz="1950" b="0">
                          <a:solidFill>
                            <a:srgbClr val="344F61"/>
                          </a:solidFill>
                          <a:latin typeface="Arial"/>
                          <a:ea typeface="Arial"/>
                          <a:cs typeface="Arial"/>
                        </a:rPr>
                        <a:t>1.08</a:t>
                      </a:r>
                    </a:p>
                  </a:txBody>
                  <a:tcPr marL="91440" marR="91440" marT="45720" marB="45720">
                    <a:solidFill>
                      <a:srgbClr val="FFFFFF"/>
                    </a:solidFill>
                  </a:tcPr>
                </a:tc>
                <a:tc>
                  <a:txBody>
                    <a:bodyPr/>
                    <a:lstStyle/>
                    <a:p>
                      <a:r>
                        <a:rPr sz="1950" b="0">
                          <a:solidFill>
                            <a:srgbClr val="344F61"/>
                          </a:solidFill>
                          <a:latin typeface="Arial"/>
                          <a:ea typeface="Arial"/>
                          <a:cs typeface="Arial"/>
                        </a:rPr>
                        <a:t>1.99</a:t>
                      </a:r>
                    </a:p>
                  </a:txBody>
                  <a:tcPr marL="91440" marR="91440" marT="45720" marB="45720">
                    <a:solidFill>
                      <a:srgbClr val="FFFFFF"/>
                    </a:solidFill>
                  </a:tcPr>
                </a:tc>
                <a:tc>
                  <a:txBody>
                    <a:bodyPr/>
                    <a:lstStyle/>
                    <a:p>
                      <a:r>
                        <a:rPr sz="1950" b="0">
                          <a:solidFill>
                            <a:srgbClr val="344F61"/>
                          </a:solidFill>
                          <a:latin typeface="Arial"/>
                          <a:ea typeface="Arial"/>
                          <a:cs typeface="Arial"/>
                        </a:rPr>
                        <a:t>1.74</a:t>
                      </a:r>
                    </a:p>
                  </a:txBody>
                  <a:tcPr marL="91440" marR="91440" marT="45720" marB="45720">
                    <a:solidFill>
                      <a:srgbClr val="FFFFFF"/>
                    </a:solidFill>
                  </a:tcPr>
                </a:tc>
                <a:tc>
                  <a:txBody>
                    <a:bodyPr/>
                    <a:lstStyle/>
                    <a:p>
                      <a:r>
                        <a:rPr sz="1950" b="0">
                          <a:solidFill>
                            <a:srgbClr val="344F61"/>
                          </a:solidFill>
                          <a:latin typeface="Arial"/>
                          <a:ea typeface="Arial"/>
                          <a:cs typeface="Arial"/>
                        </a:rPr>
                        <a:t>0.85</a:t>
                      </a:r>
                    </a:p>
                  </a:txBody>
                  <a:tcPr marL="91440" marR="91440" marT="45720" marB="45720">
                    <a:solidFill>
                      <a:srgbClr val="FFFFFF"/>
                    </a:solidFill>
                  </a:tcPr>
                </a:tc>
              </a:tr>
              <a:tr h="590550">
                <a:tc>
                  <a:txBody>
                    <a:bodyPr/>
                    <a:lstStyle/>
                    <a:p>
                      <a:r>
                        <a:rPr sz="1950" b="0">
                          <a:solidFill>
                            <a:srgbClr val="344F61"/>
                          </a:solidFill>
                          <a:latin typeface="Arial"/>
                          <a:ea typeface="Arial"/>
                          <a:cs typeface="Arial"/>
                        </a:rPr>
                        <a:t>Ramsey + quantum</a:t>
                      </a:r>
                    </a:p>
                  </a:txBody>
                  <a:tcPr marL="91440" marR="91440" marT="45720" marB="45720">
                    <a:solidFill>
                      <a:srgbClr val="EDF3F4"/>
                    </a:solidFill>
                  </a:tcPr>
                </a:tc>
                <a:tc>
                  <a:txBody>
                    <a:bodyPr/>
                    <a:lstStyle/>
                    <a:p>
                      <a:r>
                        <a:rPr sz="1950" b="0">
                          <a:solidFill>
                            <a:srgbClr val="344F61"/>
                          </a:solidFill>
                          <a:latin typeface="Arial"/>
                          <a:ea typeface="Arial"/>
                          <a:cs typeface="Arial"/>
                        </a:rPr>
                        <a:t>1.34</a:t>
                      </a:r>
                    </a:p>
                  </a:txBody>
                  <a:tcPr marL="91440" marR="91440" marT="45720" marB="45720">
                    <a:solidFill>
                      <a:srgbClr val="EDF3F4"/>
                    </a:solidFill>
                  </a:tcPr>
                </a:tc>
                <a:tc>
                  <a:txBody>
                    <a:bodyPr/>
                    <a:lstStyle/>
                    <a:p>
                      <a:r>
                        <a:rPr sz="1950" b="0">
                          <a:solidFill>
                            <a:srgbClr val="344F61"/>
                          </a:solidFill>
                          <a:latin typeface="Arial"/>
                          <a:ea typeface="Arial"/>
                          <a:cs typeface="Arial"/>
                        </a:rPr>
                        <a:t>2.19</a:t>
                      </a:r>
                    </a:p>
                  </a:txBody>
                  <a:tcPr marL="91440" marR="91440" marT="45720" marB="45720">
                    <a:solidFill>
                      <a:srgbClr val="EDF3F4"/>
                    </a:solidFill>
                  </a:tcPr>
                </a:tc>
                <a:tc>
                  <a:txBody>
                    <a:bodyPr/>
                    <a:lstStyle/>
                    <a:p>
                      <a:r>
                        <a:rPr sz="1950" b="0">
                          <a:solidFill>
                            <a:srgbClr val="344F61"/>
                          </a:solidFill>
                          <a:latin typeface="Arial"/>
                          <a:ea typeface="Arial"/>
                          <a:cs typeface="Arial"/>
                        </a:rPr>
                        <a:t>2.04</a:t>
                      </a:r>
                    </a:p>
                  </a:txBody>
                  <a:tcPr marL="91440" marR="91440" marT="45720" marB="45720">
                    <a:solidFill>
                      <a:srgbClr val="EDF3F4"/>
                    </a:solidFill>
                  </a:tcPr>
                </a:tc>
                <a:tc>
                  <a:txBody>
                    <a:bodyPr/>
                    <a:lstStyle/>
                    <a:p>
                      <a:r>
                        <a:rPr sz="1950" b="0">
                          <a:solidFill>
                            <a:srgbClr val="344F61"/>
                          </a:solidFill>
                          <a:latin typeface="Arial"/>
                          <a:ea typeface="Arial"/>
                          <a:cs typeface="Arial"/>
                        </a:rPr>
                        <a:t>1.17</a:t>
                      </a:r>
                    </a:p>
                  </a:txBody>
                  <a:tcPr marL="91440" marR="91440" marT="45720" marB="45720">
                    <a:solidFill>
                      <a:srgbClr val="EDF3F4"/>
                    </a:solidFill>
                  </a:tcPr>
                </a:tc>
              </a:tr>
            </a:tbl>
          </a:graphicData>
        </a:graphic>
      </p:graphicFrame>
      <p:sp>
        <p:nvSpPr>
          <p:cNvPr id="5" name="">
            <a:extLst xmlns:a="http://schemas.openxmlformats.org/drawingml/2006/main">
              <a:ext uri="{FF2B5EF4-FFF2-40B4-BE49-F238E27FC236}">
                <a16:creationId xmlns:a16="http://schemas.microsoft.com/office/drawing/2014/main" id="{ACCA1BBC-F562-40B6-8C9D-E6B576044AE3}"/>
              </a:ext>
            </a:extLst>
          </p:cNvPr>
          <p:cNvSpPr>
            <a:spLocks xmlns:a="http://schemas.openxmlformats.org/drawingml/2006/main" noGrp="1"/>
          </p:cNvSpPr>
          <p:nvPr/>
        </p:nvSpPr>
        <p:spPr>
          <a:xfrm xmlns:a="http://schemas.openxmlformats.org/drawingml/2006/main">
            <a:off x="742950" y="49815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67D8D"/>
                </a:solidFill>
                <a:latin typeface="Arial"/>
                <a:ea typeface="Arial"/>
                <a:cs typeface="Arial"/>
              </a:defRPr>
            </a:pPr>
            <a:r>
              <a:rPr sz="2325" b="1">
                <a:solidFill>
                  <a:srgbClr val="167D8D"/>
                </a:solidFill>
                <a:latin typeface="Arial"/>
                <a:ea typeface="Arial"/>
                <a:cs typeface="Arial"/>
              </a:rPr>
              <a:t>Classical sensing + classical modeling gives the lowest error across all four conditions</a:t>
            </a:r>
          </a:p>
        </p:txBody>
      </p:sp>
    </p:spTree>
    <p:extLst>
      <p:ext uri="{BB962C8B-B14F-4D97-AF65-F5344CB8AC3E}">
        <p14:creationId xmlns:p14="http://schemas.microsoft.com/office/powerpoint/2010/main" val="1315601280"/>
      </p:ext>
    </p:extLst>
  </p:cSld>
</p:sld>
</file>

<file path=ppt/slides/slide10.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33DE97-FAC4-46B8-B93C-CF4057DB6A20}"/>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One-second free prediction</a:t>
            </a:r>
          </a:p>
        </p:txBody>
      </p:sp>
      <p:sp>
        <p:nvSpPr>
          <p:cNvPr id="2" name="">
            <a:extLst xmlns:a="http://schemas.openxmlformats.org/drawingml/2006/main">
              <a:ext uri="{FF2B5EF4-FFF2-40B4-BE49-F238E27FC236}">
                <a16:creationId xmlns:a16="http://schemas.microsoft.com/office/drawing/2014/main" id="{B49B00A5-C5CA-47DE-B92A-9C9E03AE299A}"/>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10</a:t>
            </a:r>
          </a:p>
        </p:txBody>
      </p:sp>
      <p:graphicFrame>
        <p:nvGraphicFramePr>
          <p:cNvPr id="7" name="Chart"/>
          <p:cNvGraphicFramePr/>
          <p:nvPr/>
        </p:nvGraphicFramePr>
        <p:xfrm>
          <a:off xmlns:a="http://schemas.openxmlformats.org/drawingml/2006/main" x="704850" y="1571625"/>
          <a:ext xmlns:a="http://schemas.openxmlformats.org/drawingml/2006/main" cx="10782300" cy="3810000"/>
        </p:xfrm>
        <a:graphic xmlns:a="http://schemas.openxmlformats.org/drawingml/2006/main">
          <a:graphicData uri="http://schemas.openxmlformats.org/drawingml/2006/chart">
            <c:chart xmlns:r="http://schemas.openxmlformats.org/officeDocument/2006/relationships" xmlns:c="http://schemas.openxmlformats.org/drawingml/2006/chart" r:id="Rf98f6668b0a14575"/>
          </a:graphicData>
        </a:graphic>
      </p:graphicFrame>
      <p:sp>
        <p:nvSpPr>
          <p:cNvPr id="4" name="">
            <a:extLst xmlns:a="http://schemas.openxmlformats.org/drawingml/2006/main">
              <a:ext uri="{FF2B5EF4-FFF2-40B4-BE49-F238E27FC236}">
                <a16:creationId xmlns:a16="http://schemas.microsoft.com/office/drawing/2014/main" id="{FCB492B9-652A-4ACE-BF94-F4A45E9A4A91}"/>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Quantum-kernel errors grow during repeated prediction without sensor corrections.</a:t>
            </a:r>
          </a:p>
        </p:txBody>
      </p:sp>
    </p:spTree>
    <p:extLst>
      <p:ext uri="{BB962C8B-B14F-4D97-AF65-F5344CB8AC3E}">
        <p14:creationId xmlns:p14="http://schemas.microsoft.com/office/powerpoint/2010/main" val="2106914533"/>
      </p:ext>
    </p:extLst>
  </p:cSld>
</p:sld>
</file>

<file path=ppt/slides/slide11.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BAB77C-245B-4AFC-9A84-097781B17C79}"/>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Training-data efficiency</a:t>
            </a:r>
          </a:p>
        </p:txBody>
      </p:sp>
      <p:sp>
        <p:nvSpPr>
          <p:cNvPr id="2" name="">
            <a:extLst xmlns:a="http://schemas.openxmlformats.org/drawingml/2006/main">
              <a:ext uri="{FF2B5EF4-FFF2-40B4-BE49-F238E27FC236}">
                <a16:creationId xmlns:a16="http://schemas.microsoft.com/office/drawing/2014/main" id="{12696AB2-CD12-432E-9612-B1AEDF21BC6B}"/>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11</a:t>
            </a:r>
          </a:p>
        </p:txBody>
      </p:sp>
      <p:graphicFrame>
        <p:nvGraphicFramePr>
          <p:cNvPr id="7" name="Chart"/>
          <p:cNvGraphicFramePr/>
          <p:nvPr/>
        </p:nvGraphicFramePr>
        <p:xfrm>
          <a:off xmlns:a="http://schemas.openxmlformats.org/drawingml/2006/main" x="704850" y="1571625"/>
          <a:ext xmlns:a="http://schemas.openxmlformats.org/drawingml/2006/main" cx="10782300" cy="3810000"/>
        </p:xfrm>
        <a:graphic xmlns:a="http://schemas.openxmlformats.org/drawingml/2006/main">
          <a:graphicData uri="http://schemas.openxmlformats.org/drawingml/2006/chart">
            <c:chart xmlns:r="http://schemas.openxmlformats.org/officeDocument/2006/relationships" xmlns:c="http://schemas.openxmlformats.org/drawingml/2006/chart" r:id="R36b5031eb1804aea"/>
          </a:graphicData>
        </a:graphic>
      </p:graphicFrame>
      <p:sp>
        <p:nvSpPr>
          <p:cNvPr id="4" name="">
            <a:extLst xmlns:a="http://schemas.openxmlformats.org/drawingml/2006/main">
              <a:ext uri="{FF2B5EF4-FFF2-40B4-BE49-F238E27FC236}">
                <a16:creationId xmlns:a16="http://schemas.microsoft.com/office/drawing/2014/main" id="{A5D5B066-BC7D-4880-AF4C-B7B595304A9D}"/>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Learning curves compare each method under the same training-pair budget.</a:t>
            </a:r>
          </a:p>
        </p:txBody>
      </p:sp>
    </p:spTree>
    <p:extLst>
      <p:ext uri="{BB962C8B-B14F-4D97-AF65-F5344CB8AC3E}">
        <p14:creationId xmlns:p14="http://schemas.microsoft.com/office/powerpoint/2010/main" val="516664410"/>
      </p:ext>
    </p:extLst>
  </p:cSld>
</p:sld>
</file>

<file path=ppt/slides/slide1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2820C9-CDB5-4228-ABC6-85CB98D8CEEE}"/>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Uncertainty and calibration</a:t>
            </a:r>
          </a:p>
        </p:txBody>
      </p:sp>
      <p:sp>
        <p:nvSpPr>
          <p:cNvPr id="2" name="">
            <a:extLst xmlns:a="http://schemas.openxmlformats.org/drawingml/2006/main">
              <a:ext uri="{FF2B5EF4-FFF2-40B4-BE49-F238E27FC236}">
                <a16:creationId xmlns:a16="http://schemas.microsoft.com/office/drawing/2014/main" id="{B60A0C7A-803B-4765-8E71-198D86EA8D50}"/>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12</a:t>
            </a:r>
          </a:p>
        </p:txBody>
      </p:sp>
      <p:graphicFrame>
        <p:nvGraphicFramePr>
          <p:cNvPr id="8" name=""/>
          <p:cNvGraphicFramePr/>
          <p:nvPr/>
        </p:nvGraphicFramePr>
        <p:xfrm>
          <a:off xmlns:a="http://schemas.openxmlformats.org/drawingml/2006/main" x="704850" y="1619250"/>
          <a:ext xmlns:a="http://schemas.openxmlformats.org/drawingml/2006/main" cx="10782300" cy="2857500"/>
        </p:xfrm>
        <a:graphic xmlns:a="http://schemas.openxmlformats.org/drawingml/2006/main">
          <a:graphicData uri="http://schemas.openxmlformats.org/drawingml/2006/table">
            <a:tbl>
              <a:tblPr/>
              <a:tblGrid>
                <a:gridCol w="2143125"/>
                <a:gridCol w="2524125"/>
                <a:gridCol w="2524125"/>
                <a:gridCol w="3590925"/>
              </a:tblGrid>
              <a:tr h="571500">
                <a:tc>
                  <a:txBody>
                    <a:bodyPr/>
                    <a:lstStyle/>
                    <a:p>
                      <a:r>
                        <a:rPr sz="1800" b="1">
                          <a:solidFill>
                            <a:srgbClr val="FFFFFF"/>
                          </a:solidFill>
                          <a:latin typeface="Arial"/>
                          <a:ea typeface="Arial"/>
                          <a:cs typeface="Arial"/>
                        </a:rPr>
                        <a:t>Condition</a:t>
                      </a:r>
                    </a:p>
                  </a:txBody>
                  <a:tcPr marL="91440" marR="91440" marT="45720" marB="45720">
                    <a:solidFill>
                      <a:srgbClr val="173247"/>
                    </a:solidFill>
                  </a:tcPr>
                </a:tc>
                <a:tc>
                  <a:txBody>
                    <a:bodyPr/>
                    <a:lstStyle/>
                    <a:p>
                      <a:r>
                        <a:rPr sz="1800" b="1">
                          <a:solidFill>
                            <a:srgbClr val="FFFFFF"/>
                          </a:solidFill>
                          <a:latin typeface="Arial"/>
                          <a:ea typeface="Arial"/>
                          <a:cs typeface="Arial"/>
                        </a:rPr>
                        <a:t>EKF angle interval</a:t>
                      </a:r>
                    </a:p>
                  </a:txBody>
                  <a:tcPr marL="91440" marR="91440" marT="45720" marB="45720">
                    <a:solidFill>
                      <a:srgbClr val="173247"/>
                    </a:solidFill>
                  </a:tcPr>
                </a:tc>
                <a:tc>
                  <a:txBody>
                    <a:bodyPr/>
                    <a:lstStyle/>
                    <a:p>
                      <a:r>
                        <a:rPr sz="1800" b="1">
                          <a:solidFill>
                            <a:srgbClr val="FFFFFF"/>
                          </a:solidFill>
                          <a:latin typeface="Arial"/>
                          <a:ea typeface="Arial"/>
                          <a:cs typeface="Arial"/>
                        </a:rPr>
                        <a:t>Ramsey angle interval</a:t>
                      </a:r>
                    </a:p>
                  </a:txBody>
                  <a:tcPr marL="91440" marR="91440" marT="45720" marB="45720">
                    <a:solidFill>
                      <a:srgbClr val="173247"/>
                    </a:solidFill>
                  </a:tcPr>
                </a:tc>
                <a:tc>
                  <a:txBody>
                    <a:bodyPr/>
                    <a:lstStyle/>
                    <a:p>
                      <a:r>
                        <a:rPr sz="1800" b="1">
                          <a:solidFill>
                            <a:srgbClr val="FFFFFF"/>
                          </a:solidFill>
                          <a:latin typeface="Arial"/>
                          <a:ea typeface="Arial"/>
                          <a:cs typeface="Arial"/>
                        </a:rPr>
                        <a:t>EKF + classical forecast</a:t>
                      </a:r>
                    </a:p>
                  </a:txBody>
                  <a:tcPr marL="91440" marR="91440" marT="45720" marB="45720">
                    <a:solidFill>
                      <a:srgbClr val="173247"/>
                    </a:solidFill>
                  </a:tcPr>
                </a:tc>
              </a:tr>
              <a:tr h="571500">
                <a:tc>
                  <a:txBody>
                    <a:bodyPr/>
                    <a:lstStyle/>
                    <a:p>
                      <a:r>
                        <a:rPr sz="1800" b="0">
                          <a:solidFill>
                            <a:srgbClr val="344F61"/>
                          </a:solidFill>
                          <a:latin typeface="Arial"/>
                          <a:ea typeface="Arial"/>
                          <a:cs typeface="Arial"/>
                        </a:rPr>
                        <a:t>Nominal</a:t>
                      </a:r>
                    </a:p>
                  </a:txBody>
                  <a:tcPr marL="91440" marR="91440" marT="45720" marB="45720">
                    <a:solidFill>
                      <a:srgbClr val="FFFFFF"/>
                    </a:solidFill>
                  </a:tcPr>
                </a:tc>
                <a:tc>
                  <a:txBody>
                    <a:bodyPr/>
                    <a:lstStyle/>
                    <a:p>
                      <a:r>
                        <a:rPr sz="1800" b="0">
                          <a:solidFill>
                            <a:srgbClr val="344F61"/>
                          </a:solidFill>
                          <a:latin typeface="Arial"/>
                          <a:ea typeface="Arial"/>
                          <a:cs typeface="Arial"/>
                        </a:rPr>
                        <a:t>99.1%</a:t>
                      </a:r>
                    </a:p>
                  </a:txBody>
                  <a:tcPr marL="91440" marR="91440" marT="45720" marB="45720">
                    <a:solidFill>
                      <a:srgbClr val="FFFFFF"/>
                    </a:solidFill>
                  </a:tcPr>
                </a:tc>
                <a:tc>
                  <a:txBody>
                    <a:bodyPr/>
                    <a:lstStyle/>
                    <a:p>
                      <a:r>
                        <a:rPr sz="1800" b="0">
                          <a:solidFill>
                            <a:srgbClr val="344F61"/>
                          </a:solidFill>
                          <a:latin typeface="Arial"/>
                          <a:ea typeface="Arial"/>
                          <a:cs typeface="Arial"/>
                        </a:rPr>
                        <a:t>97.2%</a:t>
                      </a:r>
                    </a:p>
                  </a:txBody>
                  <a:tcPr marL="91440" marR="91440" marT="45720" marB="45720">
                    <a:solidFill>
                      <a:srgbClr val="FFFFFF"/>
                    </a:solidFill>
                  </a:tcPr>
                </a:tc>
                <a:tc>
                  <a:txBody>
                    <a:bodyPr/>
                    <a:lstStyle/>
                    <a:p>
                      <a:r>
                        <a:rPr sz="1800" b="0">
                          <a:solidFill>
                            <a:srgbClr val="344F61"/>
                          </a:solidFill>
                          <a:latin typeface="Arial"/>
                          <a:ea typeface="Arial"/>
                          <a:cs typeface="Arial"/>
                        </a:rPr>
                        <a:t>100.0%</a:t>
                      </a:r>
                    </a:p>
                  </a:txBody>
                  <a:tcPr marL="91440" marR="91440" marT="45720" marB="45720">
                    <a:solidFill>
                      <a:srgbClr val="FFFFFF"/>
                    </a:solidFill>
                  </a:tcPr>
                </a:tc>
              </a:tr>
              <a:tr h="571500">
                <a:tc>
                  <a:txBody>
                    <a:bodyPr/>
                    <a:lstStyle/>
                    <a:p>
                      <a:r>
                        <a:rPr sz="1800" b="0">
                          <a:solidFill>
                            <a:srgbClr val="344F61"/>
                          </a:solidFill>
                          <a:latin typeface="Arial"/>
                          <a:ea typeface="Arial"/>
                          <a:cs typeface="Arial"/>
                        </a:rPr>
                        <a:t>High noise</a:t>
                      </a:r>
                    </a:p>
                  </a:txBody>
                  <a:tcPr marL="91440" marR="91440" marT="45720" marB="45720">
                    <a:solidFill>
                      <a:srgbClr val="EDF3F4"/>
                    </a:solidFill>
                  </a:tcPr>
                </a:tc>
                <a:tc>
                  <a:txBody>
                    <a:bodyPr/>
                    <a:lstStyle/>
                    <a:p>
                      <a:r>
                        <a:rPr sz="1800" b="0">
                          <a:solidFill>
                            <a:srgbClr val="344F61"/>
                          </a:solidFill>
                          <a:latin typeface="Arial"/>
                          <a:ea typeface="Arial"/>
                          <a:cs typeface="Arial"/>
                        </a:rPr>
                        <a:t>98.8%</a:t>
                      </a:r>
                    </a:p>
                  </a:txBody>
                  <a:tcPr marL="91440" marR="91440" marT="45720" marB="45720">
                    <a:solidFill>
                      <a:srgbClr val="EDF3F4"/>
                    </a:solidFill>
                  </a:tcPr>
                </a:tc>
                <a:tc>
                  <a:txBody>
                    <a:bodyPr/>
                    <a:lstStyle/>
                    <a:p>
                      <a:r>
                        <a:rPr sz="1800" b="0">
                          <a:solidFill>
                            <a:srgbClr val="344F61"/>
                          </a:solidFill>
                          <a:latin typeface="Arial"/>
                          <a:ea typeface="Arial"/>
                          <a:cs typeface="Arial"/>
                        </a:rPr>
                        <a:t>99.6%</a:t>
                      </a:r>
                    </a:p>
                  </a:txBody>
                  <a:tcPr marL="91440" marR="91440" marT="45720" marB="45720">
                    <a:solidFill>
                      <a:srgbClr val="EDF3F4"/>
                    </a:solidFill>
                  </a:tcPr>
                </a:tc>
                <a:tc>
                  <a:txBody>
                    <a:bodyPr/>
                    <a:lstStyle/>
                    <a:p>
                      <a:r>
                        <a:rPr sz="1800" b="0">
                          <a:solidFill>
                            <a:srgbClr val="344F61"/>
                          </a:solidFill>
                          <a:latin typeface="Arial"/>
                          <a:ea typeface="Arial"/>
                          <a:cs typeface="Arial"/>
                        </a:rPr>
                        <a:t>99.0%</a:t>
                      </a:r>
                    </a:p>
                  </a:txBody>
                  <a:tcPr marL="91440" marR="91440" marT="45720" marB="45720">
                    <a:solidFill>
                      <a:srgbClr val="EDF3F4"/>
                    </a:solidFill>
                  </a:tcPr>
                </a:tc>
              </a:tr>
              <a:tr h="571500">
                <a:tc>
                  <a:txBody>
                    <a:bodyPr/>
                    <a:lstStyle/>
                    <a:p>
                      <a:r>
                        <a:rPr sz="1800" b="0">
                          <a:solidFill>
                            <a:srgbClr val="344F61"/>
                          </a:solidFill>
                          <a:latin typeface="Arial"/>
                          <a:ea typeface="Arial"/>
                          <a:cs typeface="Arial"/>
                        </a:rPr>
                        <a:t>Sparse</a:t>
                      </a:r>
                    </a:p>
                  </a:txBody>
                  <a:tcPr marL="91440" marR="91440" marT="45720" marB="45720">
                    <a:solidFill>
                      <a:srgbClr val="FFFFFF"/>
                    </a:solidFill>
                  </a:tcPr>
                </a:tc>
                <a:tc>
                  <a:txBody>
                    <a:bodyPr/>
                    <a:lstStyle/>
                    <a:p>
                      <a:r>
                        <a:rPr sz="1800" b="0">
                          <a:solidFill>
                            <a:srgbClr val="344F61"/>
                          </a:solidFill>
                          <a:latin typeface="Arial"/>
                          <a:ea typeface="Arial"/>
                          <a:cs typeface="Arial"/>
                        </a:rPr>
                        <a:t>98.2%</a:t>
                      </a:r>
                    </a:p>
                  </a:txBody>
                  <a:tcPr marL="91440" marR="91440" marT="45720" marB="45720">
                    <a:solidFill>
                      <a:srgbClr val="FFFFFF"/>
                    </a:solidFill>
                  </a:tcPr>
                </a:tc>
                <a:tc>
                  <a:txBody>
                    <a:bodyPr/>
                    <a:lstStyle/>
                    <a:p>
                      <a:r>
                        <a:rPr sz="1800" b="0">
                          <a:solidFill>
                            <a:srgbClr val="344F61"/>
                          </a:solidFill>
                          <a:latin typeface="Arial"/>
                          <a:ea typeface="Arial"/>
                          <a:cs typeface="Arial"/>
                        </a:rPr>
                        <a:t>97.3%</a:t>
                      </a:r>
                    </a:p>
                  </a:txBody>
                  <a:tcPr marL="91440" marR="91440" marT="45720" marB="45720">
                    <a:solidFill>
                      <a:srgbClr val="FFFFFF"/>
                    </a:solidFill>
                  </a:tcPr>
                </a:tc>
                <a:tc>
                  <a:txBody>
                    <a:bodyPr/>
                    <a:lstStyle/>
                    <a:p>
                      <a:r>
                        <a:rPr sz="1800" b="0">
                          <a:solidFill>
                            <a:srgbClr val="344F61"/>
                          </a:solidFill>
                          <a:latin typeface="Arial"/>
                          <a:ea typeface="Arial"/>
                          <a:cs typeface="Arial"/>
                        </a:rPr>
                        <a:t>99.2%</a:t>
                      </a:r>
                    </a:p>
                  </a:txBody>
                  <a:tcPr marL="91440" marR="91440" marT="45720" marB="45720">
                    <a:solidFill>
                      <a:srgbClr val="FFFFFF"/>
                    </a:solidFill>
                  </a:tcPr>
                </a:tc>
              </a:tr>
              <a:tr h="571500">
                <a:tc>
                  <a:txBody>
                    <a:bodyPr/>
                    <a:lstStyle/>
                    <a:p>
                      <a:r>
                        <a:rPr sz="1800" b="0">
                          <a:solidFill>
                            <a:srgbClr val="344F61"/>
                          </a:solidFill>
                          <a:latin typeface="Arial"/>
                          <a:ea typeface="Arial"/>
                          <a:cs typeface="Arial"/>
                        </a:rPr>
                        <a:t>Drift</a:t>
                      </a:r>
                    </a:p>
                  </a:txBody>
                  <a:tcPr marL="91440" marR="91440" marT="45720" marB="45720">
                    <a:solidFill>
                      <a:srgbClr val="EDF3F4"/>
                    </a:solidFill>
                  </a:tcPr>
                </a:tc>
                <a:tc>
                  <a:txBody>
                    <a:bodyPr/>
                    <a:lstStyle/>
                    <a:p>
                      <a:r>
                        <a:rPr sz="1800" b="0">
                          <a:solidFill>
                            <a:srgbClr val="344F61"/>
                          </a:solidFill>
                          <a:latin typeface="Arial"/>
                          <a:ea typeface="Arial"/>
                          <a:cs typeface="Arial"/>
                        </a:rPr>
                        <a:t>93.6%</a:t>
                      </a:r>
                    </a:p>
                  </a:txBody>
                  <a:tcPr marL="91440" marR="91440" marT="45720" marB="45720">
                    <a:solidFill>
                      <a:srgbClr val="EDF3F4"/>
                    </a:solidFill>
                  </a:tcPr>
                </a:tc>
                <a:tc>
                  <a:txBody>
                    <a:bodyPr/>
                    <a:lstStyle/>
                    <a:p>
                      <a:r>
                        <a:rPr sz="1800" b="0">
                          <a:solidFill>
                            <a:srgbClr val="344F61"/>
                          </a:solidFill>
                          <a:latin typeface="Arial"/>
                          <a:ea typeface="Arial"/>
                          <a:cs typeface="Arial"/>
                        </a:rPr>
                        <a:t>96.0%</a:t>
                      </a:r>
                    </a:p>
                  </a:txBody>
                  <a:tcPr marL="91440" marR="91440" marT="45720" marB="45720">
                    <a:solidFill>
                      <a:srgbClr val="EDF3F4"/>
                    </a:solidFill>
                  </a:tcPr>
                </a:tc>
                <a:tc>
                  <a:txBody>
                    <a:bodyPr/>
                    <a:lstStyle/>
                    <a:p>
                      <a:r>
                        <a:rPr sz="1800" b="0">
                          <a:solidFill>
                            <a:srgbClr val="344F61"/>
                          </a:solidFill>
                          <a:latin typeface="Arial"/>
                          <a:ea typeface="Arial"/>
                          <a:cs typeface="Arial"/>
                        </a:rPr>
                        <a:t>98.7%</a:t>
                      </a:r>
                    </a:p>
                  </a:txBody>
                  <a:tcPr marL="91440" marR="91440" marT="45720" marB="45720">
                    <a:solidFill>
                      <a:srgbClr val="EDF3F4"/>
                    </a:solidFill>
                  </a:tcPr>
                </a:tc>
              </a:tr>
            </a:tbl>
          </a:graphicData>
        </a:graphic>
      </p:graphicFrame>
      <p:sp>
        <p:nvSpPr>
          <p:cNvPr id="4" name="">
            <a:extLst xmlns:a="http://schemas.openxmlformats.org/drawingml/2006/main">
              <a:ext uri="{FF2B5EF4-FFF2-40B4-BE49-F238E27FC236}">
                <a16:creationId xmlns:a16="http://schemas.microsoft.com/office/drawing/2014/main" id="{9E1E4FD6-F50B-4A4C-A913-15589E06F4CD}"/>
              </a:ext>
            </a:extLst>
          </p:cNvPr>
          <p:cNvSpPr>
            <a:spLocks xmlns:a="http://schemas.openxmlformats.org/drawingml/2006/main" noGrp="1"/>
          </p:cNvSpPr>
          <p:nvPr/>
        </p:nvSpPr>
        <p:spPr>
          <a:xfrm xmlns:a="http://schemas.openxmlformats.org/drawingml/2006/main">
            <a:off x="742950" y="4762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67D8D"/>
                </a:solidFill>
                <a:latin typeface="Arial"/>
                <a:ea typeface="Arial"/>
                <a:cs typeface="Arial"/>
              </a:defRPr>
            </a:pPr>
            <a:r>
              <a:rPr sz="2250" b="1">
                <a:solidFill>
                  <a:srgbClr val="167D8D"/>
                </a:solidFill>
                <a:latin typeface="Arial"/>
                <a:ea typeface="Arial"/>
                <a:cs typeface="Arial"/>
              </a:rPr>
              <a:t>Nominal interval target: 95% coverage</a:t>
            </a:r>
          </a:p>
        </p:txBody>
      </p:sp>
      <p:sp>
        <p:nvSpPr>
          <p:cNvPr id="5" name="">
            <a:extLst xmlns:a="http://schemas.openxmlformats.org/drawingml/2006/main">
              <a:ext uri="{FF2B5EF4-FFF2-40B4-BE49-F238E27FC236}">
                <a16:creationId xmlns:a16="http://schemas.microsoft.com/office/drawing/2014/main" id="{A2BC6A01-A132-4290-90EC-1061E2614C14}"/>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Drift and model mismatch motivate stronger calibration and bias estimation.</a:t>
            </a:r>
          </a:p>
        </p:txBody>
      </p:sp>
    </p:spTree>
    <p:extLst>
      <p:ext uri="{BB962C8B-B14F-4D97-AF65-F5344CB8AC3E}">
        <p14:creationId xmlns:p14="http://schemas.microsoft.com/office/powerpoint/2010/main" val="2066265647"/>
      </p:ext>
    </p:extLst>
  </p:cSld>
</p:sld>
</file>

<file path=ppt/slides/slide13.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43FA55-FD9E-4A79-805D-21CEFDD8FC3B}"/>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Sequential measurement requests</a:t>
            </a:r>
          </a:p>
        </p:txBody>
      </p:sp>
      <p:sp>
        <p:nvSpPr>
          <p:cNvPr id="2" name="">
            <a:extLst xmlns:a="http://schemas.openxmlformats.org/drawingml/2006/main">
              <a:ext uri="{FF2B5EF4-FFF2-40B4-BE49-F238E27FC236}">
                <a16:creationId xmlns:a16="http://schemas.microsoft.com/office/drawing/2014/main" id="{8F7C2179-2394-472D-A4AD-61B98BA56D86}"/>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DEA0F60-2181-49B3-B0AB-4E37564AB198}"/>
              </a:ext>
            </a:extLst>
          </p:cNvPr>
          <p:cNvSpPr>
            <a:spLocks xmlns:a="http://schemas.openxmlformats.org/drawingml/2006/main" noGrp="1"/>
          </p:cNvSpPr>
          <p:nvPr/>
        </p:nvSpPr>
        <p:spPr>
          <a:xfrm xmlns:a="http://schemas.openxmlformats.org/drawingml/2006/main">
            <a:off x="723900" y="1543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67D8D"/>
                </a:solidFill>
                <a:latin typeface="Arial"/>
                <a:ea typeface="Arial"/>
                <a:cs typeface="Arial"/>
              </a:defRPr>
            </a:pPr>
            <a:r>
              <a:rPr sz="3525" b="1">
                <a:solidFill>
                  <a:srgbClr val="167D8D"/>
                </a:solidFill>
                <a:latin typeface="Arial"/>
                <a:ea typeface="Arial"/>
                <a:cs typeface="Arial"/>
              </a:rPr>
              <a:t>76.6% fewer readings</a:t>
            </a:r>
          </a:p>
        </p:txBody>
      </p:sp>
      <p:graphicFrame>
        <p:nvGraphicFramePr>
          <p:cNvPr id="9" name=""/>
          <p:cNvGraphicFramePr/>
          <p:nvPr/>
        </p:nvGraphicFramePr>
        <p:xfrm>
          <a:off xmlns:a="http://schemas.openxmlformats.org/drawingml/2006/main" x="704850" y="2724150"/>
          <a:ext xmlns:a="http://schemas.openxmlformats.org/drawingml/2006/main" cx="10782300" cy="2143125"/>
        </p:xfrm>
        <a:graphic xmlns:a="http://schemas.openxmlformats.org/drawingml/2006/main">
          <a:graphicData uri="http://schemas.openxmlformats.org/drawingml/2006/table">
            <a:tbl>
              <a:tblPr/>
              <a:tblGrid>
                <a:gridCol w="4667250"/>
                <a:gridCol w="2952750"/>
                <a:gridCol w="3162300"/>
              </a:tblGrid>
              <a:tr h="714375">
                <a:tc>
                  <a:txBody>
                    <a:bodyPr/>
                    <a:lstStyle/>
                    <a:p>
                      <a:r>
                        <a:rPr sz="2100" b="1">
                          <a:solidFill>
                            <a:srgbClr val="FFFFFF"/>
                          </a:solidFill>
                          <a:latin typeface="Arial"/>
                          <a:ea typeface="Arial"/>
                          <a:cs typeface="Arial"/>
                        </a:rPr>
                        <a:t>Nominal condition</a:t>
                      </a:r>
                    </a:p>
                  </a:txBody>
                  <a:tcPr marL="91440" marR="91440" marT="45720" marB="45720">
                    <a:solidFill>
                      <a:srgbClr val="173247"/>
                    </a:solidFill>
                  </a:tcPr>
                </a:tc>
                <a:tc>
                  <a:txBody>
                    <a:bodyPr/>
                    <a:lstStyle/>
                    <a:p>
                      <a:r>
                        <a:rPr sz="2100" b="1">
                          <a:solidFill>
                            <a:srgbClr val="FFFFFF"/>
                          </a:solidFill>
                          <a:latin typeface="Arial"/>
                          <a:ea typeface="Arial"/>
                          <a:cs typeface="Arial"/>
                        </a:rPr>
                        <a:t>Always measure</a:t>
                      </a:r>
                    </a:p>
                  </a:txBody>
                  <a:tcPr marL="91440" marR="91440" marT="45720" marB="45720">
                    <a:solidFill>
                      <a:srgbClr val="173247"/>
                    </a:solidFill>
                  </a:tcPr>
                </a:tc>
                <a:tc>
                  <a:txBody>
                    <a:bodyPr/>
                    <a:lstStyle/>
                    <a:p>
                      <a:r>
                        <a:rPr sz="2100" b="1">
                          <a:solidFill>
                            <a:srgbClr val="FFFFFF"/>
                          </a:solidFill>
                          <a:latin typeface="Arial"/>
                          <a:ea typeface="Arial"/>
                          <a:cs typeface="Arial"/>
                        </a:rPr>
                        <a:t>Request when needed</a:t>
                      </a:r>
                    </a:p>
                  </a:txBody>
                  <a:tcPr marL="91440" marR="91440" marT="45720" marB="45720">
                    <a:solidFill>
                      <a:srgbClr val="173247"/>
                    </a:solidFill>
                  </a:tcPr>
                </a:tc>
              </a:tr>
              <a:tr h="714375">
                <a:tc>
                  <a:txBody>
                    <a:bodyPr/>
                    <a:lstStyle/>
                    <a:p>
                      <a:r>
                        <a:rPr sz="2100" b="0">
                          <a:solidFill>
                            <a:srgbClr val="344F61"/>
                          </a:solidFill>
                          <a:latin typeface="Arial"/>
                          <a:ea typeface="Arial"/>
                          <a:cs typeface="Arial"/>
                        </a:rPr>
                        <a:t>Mean readings per run</a:t>
                      </a:r>
                    </a:p>
                  </a:txBody>
                  <a:tcPr marL="91440" marR="91440" marT="45720" marB="45720">
                    <a:solidFill>
                      <a:srgbClr val="FFFFFF"/>
                    </a:solidFill>
                  </a:tcPr>
                </a:tc>
                <a:tc>
                  <a:txBody>
                    <a:bodyPr/>
                    <a:lstStyle/>
                    <a:p>
                      <a:r>
                        <a:rPr sz="2100" b="0">
                          <a:solidFill>
                            <a:srgbClr val="344F61"/>
                          </a:solidFill>
                          <a:latin typeface="Arial"/>
                          <a:ea typeface="Arial"/>
                          <a:cs typeface="Arial"/>
                        </a:rPr>
                        <a:t>501</a:t>
                      </a:r>
                    </a:p>
                  </a:txBody>
                  <a:tcPr marL="91440" marR="91440" marT="45720" marB="45720">
                    <a:solidFill>
                      <a:srgbClr val="FFFFFF"/>
                    </a:solidFill>
                  </a:tcPr>
                </a:tc>
                <a:tc>
                  <a:txBody>
                    <a:bodyPr/>
                    <a:lstStyle/>
                    <a:p>
                      <a:r>
                        <a:rPr sz="2100" b="0">
                          <a:solidFill>
                            <a:srgbClr val="344F61"/>
                          </a:solidFill>
                          <a:latin typeface="Arial"/>
                          <a:ea typeface="Arial"/>
                          <a:cs typeface="Arial"/>
                        </a:rPr>
                        <a:t>117.3</a:t>
                      </a:r>
                    </a:p>
                  </a:txBody>
                  <a:tcPr marL="91440" marR="91440" marT="45720" marB="45720">
                    <a:solidFill>
                      <a:srgbClr val="FFFFFF"/>
                    </a:solidFill>
                  </a:tcPr>
                </a:tc>
              </a:tr>
              <a:tr h="714375">
                <a:tc>
                  <a:txBody>
                    <a:bodyPr/>
                    <a:lstStyle/>
                    <a:p>
                      <a:r>
                        <a:rPr sz="2100" b="0">
                          <a:solidFill>
                            <a:srgbClr val="344F61"/>
                          </a:solidFill>
                          <a:latin typeface="Arial"/>
                          <a:ea typeface="Arial"/>
                          <a:cs typeface="Arial"/>
                        </a:rPr>
                        <a:t>Angle RMSE (degrees)</a:t>
                      </a:r>
                    </a:p>
                  </a:txBody>
                  <a:tcPr marL="91440" marR="91440" marT="45720" marB="45720">
                    <a:solidFill>
                      <a:srgbClr val="EDF3F4"/>
                    </a:solidFill>
                  </a:tcPr>
                </a:tc>
                <a:tc>
                  <a:txBody>
                    <a:bodyPr/>
                    <a:lstStyle/>
                    <a:p>
                      <a:r>
                        <a:rPr sz="2100" b="0">
                          <a:solidFill>
                            <a:srgbClr val="344F61"/>
                          </a:solidFill>
                          <a:latin typeface="Arial"/>
                          <a:ea typeface="Arial"/>
                          <a:cs typeface="Arial"/>
                        </a:rPr>
                        <a:t>0.279</a:t>
                      </a:r>
                    </a:p>
                  </a:txBody>
                  <a:tcPr marL="91440" marR="91440" marT="45720" marB="45720">
                    <a:solidFill>
                      <a:srgbClr val="EDF3F4"/>
                    </a:solidFill>
                  </a:tcPr>
                </a:tc>
                <a:tc>
                  <a:txBody>
                    <a:bodyPr/>
                    <a:lstStyle/>
                    <a:p>
                      <a:r>
                        <a:rPr sz="2100" b="0">
                          <a:solidFill>
                            <a:srgbClr val="344F61"/>
                          </a:solidFill>
                          <a:latin typeface="Arial"/>
                          <a:ea typeface="Arial"/>
                          <a:cs typeface="Arial"/>
                        </a:rPr>
                        <a:t>0.410</a:t>
                      </a:r>
                    </a:p>
                  </a:txBody>
                  <a:tcPr marL="91440" marR="91440" marT="45720" marB="45720">
                    <a:solidFill>
                      <a:srgbClr val="EDF3F4"/>
                    </a:solidFill>
                  </a:tcPr>
                </a:tc>
              </a:tr>
            </a:tbl>
          </a:graphicData>
        </a:graphic>
      </p:graphicFrame>
      <p:sp>
        <p:nvSpPr>
          <p:cNvPr id="5" name="">
            <a:extLst xmlns:a="http://schemas.openxmlformats.org/drawingml/2006/main">
              <a:ext uri="{FF2B5EF4-FFF2-40B4-BE49-F238E27FC236}">
                <a16:creationId xmlns:a16="http://schemas.microsoft.com/office/drawing/2014/main" id="{01263F7B-9D98-46AA-9852-F50991EF5AAC}"/>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This first policy trades measurement cost for estimation error.</a:t>
            </a:r>
          </a:p>
        </p:txBody>
      </p:sp>
    </p:spTree>
    <p:extLst>
      <p:ext uri="{BB962C8B-B14F-4D97-AF65-F5344CB8AC3E}">
        <p14:creationId xmlns:p14="http://schemas.microsoft.com/office/powerpoint/2010/main" val="60701388"/>
      </p:ext>
    </p:extLst>
  </p:cSld>
</p:sld>
</file>

<file path=ppt/slides/slide1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FAB475-F168-4A08-8656-B309D11ABFCA}"/>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Stress tests expose prediction failures</a:t>
            </a:r>
          </a:p>
        </p:txBody>
      </p:sp>
      <p:sp>
        <p:nvSpPr>
          <p:cNvPr id="2" name="">
            <a:extLst xmlns:a="http://schemas.openxmlformats.org/drawingml/2006/main">
              <a:ext uri="{FF2B5EF4-FFF2-40B4-BE49-F238E27FC236}">
                <a16:creationId xmlns:a16="http://schemas.microsoft.com/office/drawing/2014/main" id="{27BA0034-CF95-45AE-B258-86DFAC0780BE}"/>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14</a:t>
            </a:r>
          </a:p>
        </p:txBody>
      </p:sp>
      <p:graphicFrame>
        <p:nvGraphicFramePr>
          <p:cNvPr id="7" name=""/>
          <p:cNvGraphicFramePr/>
          <p:nvPr/>
        </p:nvGraphicFramePr>
        <p:xfrm>
          <a:off xmlns:a="http://schemas.openxmlformats.org/drawingml/2006/main" x="704850" y="1666875"/>
          <a:ext xmlns:a="http://schemas.openxmlformats.org/drawingml/2006/main" cx="10782300" cy="2857500"/>
        </p:xfrm>
        <a:graphic xmlns:a="http://schemas.openxmlformats.org/drawingml/2006/main">
          <a:graphicData uri="http://schemas.openxmlformats.org/drawingml/2006/table">
            <a:tbl>
              <a:tblPr/>
              <a:tblGrid>
                <a:gridCol w="3476625"/>
                <a:gridCol w="2428875"/>
                <a:gridCol w="2428875"/>
                <a:gridCol w="2447925"/>
              </a:tblGrid>
              <a:tr h="714375">
                <a:tc>
                  <a:txBody>
                    <a:bodyPr/>
                    <a:lstStyle/>
                    <a:p>
                      <a:r>
                        <a:rPr sz="1875" b="1">
                          <a:solidFill>
                            <a:srgbClr val="FFFFFF"/>
                          </a:solidFill>
                          <a:latin typeface="Arial"/>
                          <a:ea typeface="Arial"/>
                          <a:cs typeface="Arial"/>
                        </a:rPr>
                        <a:t>Condition</a:t>
                      </a:r>
                    </a:p>
                  </a:txBody>
                  <a:tcPr marL="91440" marR="91440" marT="45720" marB="45720">
                    <a:solidFill>
                      <a:srgbClr val="173247"/>
                    </a:solidFill>
                  </a:tcPr>
                </a:tc>
                <a:tc>
                  <a:txBody>
                    <a:bodyPr/>
                    <a:lstStyle/>
                    <a:p>
                      <a:r>
                        <a:rPr sz="1875" b="1">
                          <a:solidFill>
                            <a:srgbClr val="FFFFFF"/>
                          </a:solidFill>
                          <a:latin typeface="Arial"/>
                          <a:ea typeface="Arial"/>
                          <a:cs typeface="Arial"/>
                        </a:rPr>
                        <a:t>Classical forecast</a:t>
                      </a:r>
                    </a:p>
                  </a:txBody>
                  <a:tcPr marL="91440" marR="91440" marT="45720" marB="45720">
                    <a:solidFill>
                      <a:srgbClr val="173247"/>
                    </a:solidFill>
                  </a:tcPr>
                </a:tc>
                <a:tc>
                  <a:txBody>
                    <a:bodyPr/>
                    <a:lstStyle/>
                    <a:p>
                      <a:r>
                        <a:rPr sz="1875" b="1">
                          <a:solidFill>
                            <a:srgbClr val="FFFFFF"/>
                          </a:solidFill>
                          <a:latin typeface="Arial"/>
                          <a:ea typeface="Arial"/>
                          <a:cs typeface="Arial"/>
                        </a:rPr>
                        <a:t>Quantum forecast</a:t>
                      </a:r>
                    </a:p>
                  </a:txBody>
                  <a:tcPr marL="91440" marR="91440" marT="45720" marB="45720">
                    <a:solidFill>
                      <a:srgbClr val="173247"/>
                    </a:solidFill>
                  </a:tcPr>
                </a:tc>
                <a:tc>
                  <a:txBody>
                    <a:bodyPr/>
                    <a:lstStyle/>
                    <a:p>
                      <a:r>
                        <a:rPr sz="1875" b="1">
                          <a:solidFill>
                            <a:srgbClr val="FFFFFF"/>
                          </a:solidFill>
                          <a:latin typeface="Arial"/>
                          <a:ea typeface="Arial"/>
                          <a:cs typeface="Arial"/>
                        </a:rPr>
                        <a:t>Quantum 1 s rollout</a:t>
                      </a:r>
                    </a:p>
                  </a:txBody>
                  <a:tcPr marL="91440" marR="91440" marT="45720" marB="45720">
                    <a:solidFill>
                      <a:srgbClr val="173247"/>
                    </a:solidFill>
                  </a:tcPr>
                </a:tc>
              </a:tr>
              <a:tr h="714375">
                <a:tc>
                  <a:txBody>
                    <a:bodyPr/>
                    <a:lstStyle/>
                    <a:p>
                      <a:r>
                        <a:rPr sz="1875" b="0">
                          <a:solidFill>
                            <a:srgbClr val="344F61"/>
                          </a:solidFill>
                          <a:latin typeface="Arial"/>
                          <a:ea typeface="Arial"/>
                          <a:cs typeface="Arial"/>
                        </a:rPr>
                        <a:t>Initial angle 75–84°</a:t>
                      </a:r>
                    </a:p>
                  </a:txBody>
                  <a:tcPr marL="91440" marR="91440" marT="45720" marB="45720">
                    <a:solidFill>
                      <a:srgbClr val="FFFFFF"/>
                    </a:solidFill>
                  </a:tcPr>
                </a:tc>
                <a:tc>
                  <a:txBody>
                    <a:bodyPr/>
                    <a:lstStyle/>
                    <a:p>
                      <a:r>
                        <a:rPr sz="1875" b="0">
                          <a:solidFill>
                            <a:srgbClr val="344F61"/>
                          </a:solidFill>
                          <a:latin typeface="Arial"/>
                          <a:ea typeface="Arial"/>
                          <a:cs typeface="Arial"/>
                        </a:rPr>
                        <a:t>1.23</a:t>
                      </a:r>
                    </a:p>
                  </a:txBody>
                  <a:tcPr marL="91440" marR="91440" marT="45720" marB="45720">
                    <a:solidFill>
                      <a:srgbClr val="FFFFFF"/>
                    </a:solidFill>
                  </a:tcPr>
                </a:tc>
                <a:tc>
                  <a:txBody>
                    <a:bodyPr/>
                    <a:lstStyle/>
                    <a:p>
                      <a:r>
                        <a:rPr sz="1875" b="0">
                          <a:solidFill>
                            <a:srgbClr val="344F61"/>
                          </a:solidFill>
                          <a:latin typeface="Arial"/>
                          <a:ea typeface="Arial"/>
                          <a:cs typeface="Arial"/>
                        </a:rPr>
                        <a:t>10.81</a:t>
                      </a:r>
                    </a:p>
                  </a:txBody>
                  <a:tcPr marL="91440" marR="91440" marT="45720" marB="45720">
                    <a:solidFill>
                      <a:srgbClr val="FFFFFF"/>
                    </a:solidFill>
                  </a:tcPr>
                </a:tc>
                <a:tc>
                  <a:txBody>
                    <a:bodyPr/>
                    <a:lstStyle/>
                    <a:p>
                      <a:r>
                        <a:rPr sz="1875" b="0">
                          <a:solidFill>
                            <a:srgbClr val="344F61"/>
                          </a:solidFill>
                          <a:latin typeface="Arial"/>
                          <a:ea typeface="Arial"/>
                          <a:cs typeface="Arial"/>
                        </a:rPr>
                        <a:t>176.41</a:t>
                      </a:r>
                    </a:p>
                  </a:txBody>
                  <a:tcPr marL="91440" marR="91440" marT="45720" marB="45720">
                    <a:solidFill>
                      <a:srgbClr val="FFFFFF"/>
                    </a:solidFill>
                  </a:tcPr>
                </a:tc>
              </a:tr>
              <a:tr h="714375">
                <a:tc>
                  <a:txBody>
                    <a:bodyPr/>
                    <a:lstStyle/>
                    <a:p>
                      <a:r>
                        <a:rPr sz="1875" b="0">
                          <a:solidFill>
                            <a:srgbClr val="344F61"/>
                          </a:solidFill>
                          <a:latin typeface="Arial"/>
                          <a:ea typeface="Arial"/>
                          <a:cs typeface="Arial"/>
                        </a:rPr>
                        <a:t>5% query mixing</a:t>
                      </a:r>
                    </a:p>
                  </a:txBody>
                  <a:tcPr marL="91440" marR="91440" marT="45720" marB="45720">
                    <a:solidFill>
                      <a:srgbClr val="EDF3F4"/>
                    </a:solidFill>
                  </a:tcPr>
                </a:tc>
                <a:tc>
                  <a:txBody>
                    <a:bodyPr/>
                    <a:lstStyle/>
                    <a:p>
                      <a:r>
                        <a:rPr sz="1875" b="0">
                          <a:solidFill>
                            <a:srgbClr val="344F61"/>
                          </a:solidFill>
                          <a:latin typeface="Arial"/>
                          <a:ea typeface="Arial"/>
                          <a:cs typeface="Arial"/>
                        </a:rPr>
                        <a:t>—</a:t>
                      </a:r>
                    </a:p>
                  </a:txBody>
                  <a:tcPr marL="91440" marR="91440" marT="45720" marB="45720">
                    <a:solidFill>
                      <a:srgbClr val="EDF3F4"/>
                    </a:solidFill>
                  </a:tcPr>
                </a:tc>
                <a:tc>
                  <a:txBody>
                    <a:bodyPr/>
                    <a:lstStyle/>
                    <a:p>
                      <a:r>
                        <a:rPr sz="1875" b="0">
                          <a:solidFill>
                            <a:srgbClr val="344F61"/>
                          </a:solidFill>
                          <a:latin typeface="Arial"/>
                          <a:ea typeface="Arial"/>
                          <a:cs typeface="Arial"/>
                        </a:rPr>
                        <a:t>4.32</a:t>
                      </a:r>
                    </a:p>
                  </a:txBody>
                  <a:tcPr marL="91440" marR="91440" marT="45720" marB="45720">
                    <a:solidFill>
                      <a:srgbClr val="EDF3F4"/>
                    </a:solidFill>
                  </a:tcPr>
                </a:tc>
                <a:tc>
                  <a:txBody>
                    <a:bodyPr/>
                    <a:lstStyle/>
                    <a:p>
                      <a:r>
                        <a:rPr sz="1875" b="0">
                          <a:solidFill>
                            <a:srgbClr val="344F61"/>
                          </a:solidFill>
                          <a:latin typeface="Arial"/>
                          <a:ea typeface="Arial"/>
                          <a:cs typeface="Arial"/>
                        </a:rPr>
                        <a:t>8.28</a:t>
                      </a:r>
                    </a:p>
                  </a:txBody>
                  <a:tcPr marL="91440" marR="91440" marT="45720" marB="45720">
                    <a:solidFill>
                      <a:srgbClr val="EDF3F4"/>
                    </a:solidFill>
                  </a:tcPr>
                </a:tc>
              </a:tr>
              <a:tr h="714375">
                <a:tc>
                  <a:txBody>
                    <a:bodyPr/>
                    <a:lstStyle/>
                    <a:p>
                      <a:r>
                        <a:rPr sz="1875" b="0">
                          <a:solidFill>
                            <a:srgbClr val="344F61"/>
                          </a:solidFill>
                          <a:latin typeface="Arial"/>
                          <a:ea typeface="Arial"/>
                          <a:cs typeface="Arial"/>
                        </a:rPr>
                        <a:t>20% query mixing</a:t>
                      </a:r>
                    </a:p>
                  </a:txBody>
                  <a:tcPr marL="91440" marR="91440" marT="45720" marB="45720">
                    <a:solidFill>
                      <a:srgbClr val="FFFFFF"/>
                    </a:solidFill>
                  </a:tcPr>
                </a:tc>
                <a:tc>
                  <a:txBody>
                    <a:bodyPr/>
                    <a:lstStyle/>
                    <a:p>
                      <a:r>
                        <a:rPr sz="1875" b="0">
                          <a:solidFill>
                            <a:srgbClr val="344F61"/>
                          </a:solidFill>
                          <a:latin typeface="Arial"/>
                          <a:ea typeface="Arial"/>
                          <a:cs typeface="Arial"/>
                        </a:rPr>
                        <a:t>—</a:t>
                      </a:r>
                    </a:p>
                  </a:txBody>
                  <a:tcPr marL="91440" marR="91440" marT="45720" marB="45720">
                    <a:solidFill>
                      <a:srgbClr val="FFFFFF"/>
                    </a:solidFill>
                  </a:tcPr>
                </a:tc>
                <a:tc>
                  <a:txBody>
                    <a:bodyPr/>
                    <a:lstStyle/>
                    <a:p>
                      <a:r>
                        <a:rPr sz="1875" b="0">
                          <a:solidFill>
                            <a:srgbClr val="344F61"/>
                          </a:solidFill>
                          <a:latin typeface="Arial"/>
                          <a:ea typeface="Arial"/>
                          <a:cs typeface="Arial"/>
                        </a:rPr>
                        <a:t>16.98</a:t>
                      </a:r>
                    </a:p>
                  </a:txBody>
                  <a:tcPr marL="91440" marR="91440" marT="45720" marB="45720">
                    <a:solidFill>
                      <a:srgbClr val="FFFFFF"/>
                    </a:solidFill>
                  </a:tcPr>
                </a:tc>
                <a:tc>
                  <a:txBody>
                    <a:bodyPr/>
                    <a:lstStyle/>
                    <a:p>
                      <a:r>
                        <a:rPr sz="1875" b="0">
                          <a:solidFill>
                            <a:srgbClr val="344F61"/>
                          </a:solidFill>
                          <a:latin typeface="Arial"/>
                          <a:ea typeface="Arial"/>
                          <a:cs typeface="Arial"/>
                        </a:rPr>
                        <a:t>162.11</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7D412F5-4C5D-4A1B-9036-D8360570D344}"/>
              </a:ext>
            </a:extLst>
          </p:cNvPr>
          <p:cNvSpPr>
            <a:spLocks xmlns:a="http://schemas.openxmlformats.org/drawingml/2006/main" noGrp="1"/>
          </p:cNvSpPr>
          <p:nvPr/>
        </p:nvSpPr>
        <p:spPr>
          <a:xfrm xmlns:a="http://schemas.openxmlformats.org/drawingml/2006/main">
            <a:off x="704850" y="58578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344F61"/>
                </a:solidFill>
                <a:latin typeface="Arial"/>
                <a:ea typeface="Arial"/>
                <a:cs typeface="Arial"/>
              </a:defRPr>
            </a:pPr>
            <a:r>
              <a:rPr sz="1725" b="0">
                <a:solidFill>
                  <a:srgbClr val="344F61"/>
                </a:solidFill>
                <a:latin typeface="Arial"/>
                <a:ea typeface="Arial"/>
                <a:cs typeface="Arial"/>
              </a:rPr>
              <a:t>All entries are angle RMSE in degrees. Query mixing tests inference-time mismatch.</a:t>
            </a:r>
          </a:p>
        </p:txBody>
      </p:sp>
    </p:spTree>
    <p:extLst>
      <p:ext uri="{BB962C8B-B14F-4D97-AF65-F5344CB8AC3E}">
        <p14:creationId xmlns:p14="http://schemas.microsoft.com/office/powerpoint/2010/main" val="1147875705"/>
      </p:ext>
    </p:extLst>
  </p:cSld>
</p:sld>
</file>

<file path=ppt/slides/slide15.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F45E9C-69B0-4458-A952-14F590B24D8D}"/>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Remaining research</a:t>
            </a:r>
          </a:p>
        </p:txBody>
      </p:sp>
      <p:sp>
        <p:nvSpPr>
          <p:cNvPr id="2" name="">
            <a:extLst xmlns:a="http://schemas.openxmlformats.org/drawingml/2006/main">
              <a:ext uri="{FF2B5EF4-FFF2-40B4-BE49-F238E27FC236}">
                <a16:creationId xmlns:a16="http://schemas.microsoft.com/office/drawing/2014/main" id="{25512943-457E-4237-A137-8BE6EDE7CE18}"/>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6D4003A0-0947-46A3-A4A5-BCFD110906BA}"/>
              </a:ext>
            </a:extLst>
          </p:cNvPr>
          <p:cNvSpPr>
            <a:spLocks xmlns:a="http://schemas.openxmlformats.org/drawingml/2006/main" noGrp="1"/>
          </p:cNvSpPr>
          <p:nvPr/>
        </p:nvSpPr>
        <p:spPr>
          <a:xfrm xmlns:a="http://schemas.openxmlformats.org/drawingml/2006/main">
            <a:off x="723900" y="15144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167D8D"/>
                </a:solidFill>
                <a:latin typeface="Arial"/>
                <a:ea typeface="Arial"/>
                <a:cs typeface="Arial"/>
              </a:defRPr>
            </a:pPr>
            <a:r>
              <a:rPr sz="2475" b="1">
                <a:solidFill>
                  <a:srgbClr val="167D8D"/>
                </a:solidFill>
                <a:latin typeface="Arial"/>
                <a:ea typeface="Arial"/>
                <a:cs typeface="Arial"/>
              </a:rPr>
              <a:t>Physical sensing validation</a:t>
            </a:r>
          </a:p>
        </p:txBody>
      </p:sp>
      <p:sp>
        <p:nvSpPr>
          <p:cNvPr id="4" name="">
            <a:extLst xmlns:a="http://schemas.openxmlformats.org/drawingml/2006/main">
              <a:ext uri="{FF2B5EF4-FFF2-40B4-BE49-F238E27FC236}">
                <a16:creationId xmlns:a16="http://schemas.microsoft.com/office/drawing/2014/main" id="{CA7022B3-DB9B-4DDE-80DB-0F2EB2FF184E}"/>
              </a:ext>
            </a:extLst>
          </p:cNvPr>
          <p:cNvSpPr>
            <a:spLocks xmlns:a="http://schemas.openxmlformats.org/drawingml/2006/main" noGrp="1"/>
          </p:cNvSpPr>
          <p:nvPr/>
        </p:nvSpPr>
        <p:spPr>
          <a:xfrm xmlns:a="http://schemas.openxmlformats.org/drawingml/2006/main">
            <a:off x="723900" y="20669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344F61"/>
                </a:solidFill>
                <a:latin typeface="Arial"/>
                <a:ea typeface="Arial"/>
                <a:cs typeface="Arial"/>
              </a:defRPr>
            </a:pPr>
            <a:r>
              <a:rPr sz="2100" b="0">
                <a:solidFill>
                  <a:srgbClr val="344F61"/>
                </a:solidFill>
                <a:latin typeface="Arial"/>
                <a:ea typeface="Arial"/>
                <a:cs typeface="Arial"/>
              </a:rPr>
              <a:t>Justify the field geometry and compare matched sensing-time or energy budgets</a:t>
            </a:r>
          </a:p>
        </p:txBody>
      </p:sp>
      <p:sp>
        <p:nvSpPr>
          <p:cNvPr id="5" name="">
            <a:extLst xmlns:a="http://schemas.openxmlformats.org/drawingml/2006/main">
              <a:ext uri="{FF2B5EF4-FFF2-40B4-BE49-F238E27FC236}">
                <a16:creationId xmlns:a16="http://schemas.microsoft.com/office/drawing/2014/main" id="{5EE50D89-60D4-4020-B616-A703271EA879}"/>
              </a:ext>
            </a:extLst>
          </p:cNvPr>
          <p:cNvSpPr>
            <a:spLocks xmlns:a="http://schemas.openxmlformats.org/drawingml/2006/main" noGrp="1"/>
          </p:cNvSpPr>
          <p:nvPr/>
        </p:nvSpPr>
        <p:spPr>
          <a:xfrm xmlns:a="http://schemas.openxmlformats.org/drawingml/2006/main">
            <a:off x="723900" y="31432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167D8D"/>
                </a:solidFill>
                <a:latin typeface="Arial"/>
                <a:ea typeface="Arial"/>
                <a:cs typeface="Arial"/>
              </a:defRPr>
            </a:pPr>
            <a:r>
              <a:rPr sz="2475" b="1">
                <a:solidFill>
                  <a:srgbClr val="167D8D"/>
                </a:solidFill>
                <a:latin typeface="Arial"/>
                <a:ea typeface="Arial"/>
                <a:cs typeface="Arial"/>
              </a:rPr>
              <a:t>Broader statistical evaluation</a:t>
            </a:r>
          </a:p>
        </p:txBody>
      </p:sp>
      <p:sp>
        <p:nvSpPr>
          <p:cNvPr id="6" name="">
            <a:extLst xmlns:a="http://schemas.openxmlformats.org/drawingml/2006/main">
              <a:ext uri="{FF2B5EF4-FFF2-40B4-BE49-F238E27FC236}">
                <a16:creationId xmlns:a16="http://schemas.microsoft.com/office/drawing/2014/main" id="{3D80A571-B34F-4E51-8563-2C15158EF02C}"/>
              </a:ext>
            </a:extLst>
          </p:cNvPr>
          <p:cNvSpPr>
            <a:spLocks xmlns:a="http://schemas.openxmlformats.org/drawingml/2006/main" noGrp="1"/>
          </p:cNvSpPr>
          <p:nvPr/>
        </p:nvSpPr>
        <p:spPr>
          <a:xfrm xmlns:a="http://schemas.openxmlformats.org/drawingml/2006/main">
            <a:off x="723900" y="3695700"/>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344F61"/>
                </a:solidFill>
                <a:latin typeface="Arial"/>
                <a:ea typeface="Arial"/>
                <a:cs typeface="Arial"/>
              </a:defRPr>
            </a:pPr>
            <a:r>
              <a:rPr sz="2100" b="0">
                <a:solidFill>
                  <a:srgbClr val="344F61"/>
                </a:solidFill>
                <a:latin typeface="Arial"/>
                <a:ea typeface="Arial"/>
                <a:cs typeface="Arial"/>
              </a:rPr>
              <a:t>Repeat across more seeds and initial states. Validate uncertainty under bias and drift.</a:t>
            </a:r>
          </a:p>
        </p:txBody>
      </p:sp>
      <p:sp>
        <p:nvSpPr>
          <p:cNvPr id="7" name="">
            <a:extLst xmlns:a="http://schemas.openxmlformats.org/drawingml/2006/main">
              <a:ext uri="{FF2B5EF4-FFF2-40B4-BE49-F238E27FC236}">
                <a16:creationId xmlns:a16="http://schemas.microsoft.com/office/drawing/2014/main" id="{56294D0A-4D37-4E32-A604-5FCF2DBA5AE7}"/>
              </a:ext>
            </a:extLst>
          </p:cNvPr>
          <p:cNvSpPr>
            <a:spLocks xmlns:a="http://schemas.openxmlformats.org/drawingml/2006/main" noGrp="1"/>
          </p:cNvSpPr>
          <p:nvPr/>
        </p:nvSpPr>
        <p:spPr>
          <a:xfrm xmlns:a="http://schemas.openxmlformats.org/drawingml/2006/main">
            <a:off x="723900" y="4762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167D8D"/>
                </a:solidFill>
                <a:latin typeface="Arial"/>
                <a:ea typeface="Arial"/>
                <a:cs typeface="Arial"/>
              </a:defRPr>
            </a:pPr>
            <a:r>
              <a:rPr sz="2475" b="1">
                <a:solidFill>
                  <a:srgbClr val="167D8D"/>
                </a:solidFill>
                <a:latin typeface="Arial"/>
                <a:ea typeface="Arial"/>
                <a:cs typeface="Arial"/>
              </a:rPr>
              <a:t>Trust and autonomous decisions</a:t>
            </a:r>
          </a:p>
        </p:txBody>
      </p:sp>
      <p:sp>
        <p:nvSpPr>
          <p:cNvPr id="8" name="">
            <a:extLst xmlns:a="http://schemas.openxmlformats.org/drawingml/2006/main">
              <a:ext uri="{FF2B5EF4-FFF2-40B4-BE49-F238E27FC236}">
                <a16:creationId xmlns:a16="http://schemas.microsoft.com/office/drawing/2014/main" id="{6C773576-C590-4EBF-AA4F-450EFFA25190}"/>
              </a:ext>
            </a:extLst>
          </p:cNvPr>
          <p:cNvSpPr>
            <a:spLocks xmlns:a="http://schemas.openxmlformats.org/drawingml/2006/main" noGrp="1"/>
          </p:cNvSpPr>
          <p:nvPr/>
        </p:nvSpPr>
        <p:spPr>
          <a:xfrm xmlns:a="http://schemas.openxmlformats.org/drawingml/2006/main">
            <a:off x="723900" y="53149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344F61"/>
                </a:solidFill>
                <a:latin typeface="Arial"/>
                <a:ea typeface="Arial"/>
                <a:cs typeface="Arial"/>
              </a:defRPr>
            </a:pPr>
            <a:r>
              <a:rPr sz="2100" b="0">
                <a:solidFill>
                  <a:srgbClr val="344F61"/>
                </a:solidFill>
                <a:latin typeface="Arial"/>
                <a:ea typeface="Arial"/>
                <a:cs typeface="Arial"/>
              </a:rPr>
              <a:t>Develop and evaluate recovery policies before using learned models for control</a:t>
            </a:r>
          </a:p>
        </p:txBody>
      </p:sp>
    </p:spTree>
    <p:extLst>
      <p:ext uri="{BB962C8B-B14F-4D97-AF65-F5344CB8AC3E}">
        <p14:creationId xmlns:p14="http://schemas.microsoft.com/office/powerpoint/2010/main" val="1835633236"/>
      </p:ext>
    </p:extLst>
  </p:cSld>
</p:sld>
</file>

<file path=ppt/slides/slide1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6A31B1-76B6-4BC2-AEC0-C2EDCD413416}"/>
              </a:ext>
            </a:extLst>
          </p:cNvPr>
          <p:cNvSpPr>
            <a:spLocks xmlns:a="http://schemas.openxmlformats.org/drawingml/2006/main" noGrp="1"/>
          </p:cNvSpPr>
          <p:nvPr/>
        </p:nvSpPr>
        <p:spPr>
          <a:xfrm xmlns:a="http://schemas.openxmlformats.org/drawingml/2006/main">
            <a:off x="666750" y="4381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73247"/>
                </a:solidFill>
                <a:latin typeface="Arial"/>
                <a:ea typeface="Arial"/>
                <a:cs typeface="Arial"/>
              </a:defRPr>
            </a:pPr>
            <a:r>
              <a:rPr sz="3300" b="1">
                <a:solidFill>
                  <a:srgbClr val="173247"/>
                </a:solidFill>
                <a:latin typeface="Arial"/>
                <a:ea typeface="Arial"/>
                <a:cs typeface="Arial"/>
              </a:rPr>
              <a:t>Reproducibility and advisor discussion</a:t>
            </a:r>
          </a:p>
        </p:txBody>
      </p:sp>
      <p:sp>
        <p:nvSpPr>
          <p:cNvPr id="2" name="">
            <a:extLst xmlns:a="http://schemas.openxmlformats.org/drawingml/2006/main">
              <a:ext uri="{FF2B5EF4-FFF2-40B4-BE49-F238E27FC236}">
                <a16:creationId xmlns:a16="http://schemas.microsoft.com/office/drawing/2014/main" id="{99FD7997-8DA4-48A9-8EE4-19E666DAC57F}"/>
              </a:ext>
            </a:extLst>
          </p:cNvPr>
          <p:cNvSpPr>
            <a:spLocks xmlns:a="http://schemas.openxmlformats.org/drawingml/2006/main" noGrp="1"/>
          </p:cNvSpPr>
          <p:nvPr/>
        </p:nvSpPr>
        <p:spPr>
          <a:xfrm xmlns:a="http://schemas.openxmlformats.org/drawingml/2006/main">
            <a:off x="11334750" y="63341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7B8B96"/>
                </a:solidFill>
                <a:latin typeface="Arial"/>
                <a:ea typeface="Arial"/>
                <a:cs typeface="Arial"/>
              </a:defRPr>
            </a:pPr>
            <a:r>
              <a:rPr sz="1350" b="0">
                <a:solidFill>
                  <a:srgbClr val="7B8B96"/>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6D2C7D04-543D-4D29-A58D-AEA26C1065E2}"/>
              </a:ext>
            </a:extLst>
          </p:cNvPr>
          <p:cNvSpPr>
            <a:spLocks xmlns:a="http://schemas.openxmlformats.org/drawingml/2006/main" noGrp="1"/>
          </p:cNvSpPr>
          <p:nvPr/>
        </p:nvSpPr>
        <p:spPr>
          <a:xfrm xmlns:a="http://schemas.openxmlformats.org/drawingml/2006/main">
            <a:off x="723900" y="157162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167D8D"/>
                </a:solidFill>
                <a:latin typeface="Arial"/>
                <a:ea typeface="Arial"/>
                <a:cs typeface="Arial"/>
              </a:defRPr>
            </a:pPr>
            <a:r>
              <a:rPr sz="2475" b="1">
                <a:solidFill>
                  <a:srgbClr val="167D8D"/>
                </a:solidFill>
                <a:latin typeface="Arial"/>
                <a:ea typeface="Arial"/>
                <a:cs typeface="Arial"/>
              </a:rPr>
              <a:t>One command regenerates the experiment</a:t>
            </a:r>
          </a:p>
        </p:txBody>
      </p:sp>
      <p:sp>
        <p:nvSpPr>
          <p:cNvPr id="4" name="">
            <a:extLst xmlns:a="http://schemas.openxmlformats.org/drawingml/2006/main">
              <a:ext uri="{FF2B5EF4-FFF2-40B4-BE49-F238E27FC236}">
                <a16:creationId xmlns:a16="http://schemas.microsoft.com/office/drawing/2014/main" id="{72265124-9B0E-493A-9491-6BA39801287B}"/>
              </a:ext>
            </a:extLst>
          </p:cNvPr>
          <p:cNvSpPr>
            <a:spLocks xmlns:a="http://schemas.openxmlformats.org/drawingml/2006/main" noGrp="1"/>
          </p:cNvSpPr>
          <p:nvPr/>
        </p:nvSpPr>
        <p:spPr>
          <a:xfrm xmlns:a="http://schemas.openxmlformats.org/drawingml/2006/main">
            <a:off x="723900" y="22288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73247"/>
                </a:solidFill>
                <a:latin typeface="Arial"/>
                <a:ea typeface="Arial"/>
                <a:cs typeface="Arial"/>
              </a:defRPr>
            </a:pPr>
            <a:r>
              <a:rPr sz="2325" b="0">
                <a:solidFill>
                  <a:srgbClr val="173247"/>
                </a:solidFill>
                <a:latin typeface="Arial"/>
                <a:ea typeface="Arial"/>
                <a:cs typeface="Arial"/>
              </a:rPr>
              <a:t>python -m research.run</a:t>
            </a:r>
          </a:p>
        </p:txBody>
      </p:sp>
      <p:sp>
        <p:nvSpPr>
          <p:cNvPr id="5" name="">
            <a:extLst xmlns:a="http://schemas.openxmlformats.org/drawingml/2006/main">
              <a:ext uri="{FF2B5EF4-FFF2-40B4-BE49-F238E27FC236}">
                <a16:creationId xmlns:a16="http://schemas.microsoft.com/office/drawing/2014/main" id="{2ABC791A-0FA0-4262-9BC7-9E5519C5E0FC}"/>
              </a:ext>
            </a:extLst>
          </p:cNvPr>
          <p:cNvSpPr>
            <a:spLocks xmlns:a="http://schemas.openxmlformats.org/drawingml/2006/main" noGrp="1"/>
          </p:cNvSpPr>
          <p:nvPr/>
        </p:nvSpPr>
        <p:spPr>
          <a:xfrm xmlns:a="http://schemas.openxmlformats.org/drawingml/2006/main">
            <a:off x="723900" y="31337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344F61"/>
                </a:solidFill>
                <a:latin typeface="Arial"/>
                <a:ea typeface="Arial"/>
                <a:cs typeface="Arial"/>
              </a:defRPr>
            </a:pPr>
            <a:r>
              <a:rPr sz="2175" b="0">
                <a:solidFill>
                  <a:srgbClr val="344F61"/>
                </a:solidFill>
                <a:latin typeface="Arial"/>
                <a:ea typeface="Arial"/>
                <a:cs typeface="Arial"/>
              </a:rPr>
              <a:t>Saved results include model checkpoints, metric tables and whole-trajectory split metadata</a:t>
            </a:r>
          </a:p>
        </p:txBody>
      </p:sp>
      <p:sp>
        <p:nvSpPr>
          <p:cNvPr id="6" name="">
            <a:extLst xmlns:a="http://schemas.openxmlformats.org/drawingml/2006/main">
              <a:ext uri="{FF2B5EF4-FFF2-40B4-BE49-F238E27FC236}">
                <a16:creationId xmlns:a16="http://schemas.microsoft.com/office/drawing/2014/main" id="{BCB13E9F-728F-45F1-9EB3-138E31FE6BB4}"/>
              </a:ext>
            </a:extLst>
          </p:cNvPr>
          <p:cNvSpPr>
            <a:spLocks xmlns:a="http://schemas.openxmlformats.org/drawingml/2006/main" noGrp="1"/>
          </p:cNvSpPr>
          <p:nvPr/>
        </p:nvSpPr>
        <p:spPr>
          <a:xfrm xmlns:a="http://schemas.openxmlformats.org/drawingml/2006/main">
            <a:off x="723900" y="44196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167D8D"/>
                </a:solidFill>
                <a:latin typeface="Arial"/>
                <a:ea typeface="Arial"/>
                <a:cs typeface="Arial"/>
              </a:defRPr>
            </a:pPr>
            <a:r>
              <a:rPr sz="2475" b="1">
                <a:solidFill>
                  <a:srgbClr val="167D8D"/>
                </a:solidFill>
                <a:latin typeface="Arial"/>
                <a:ea typeface="Arial"/>
                <a:cs typeface="Arial"/>
              </a:rPr>
              <a:t>Discussion with Dr. Kumar</a:t>
            </a:r>
          </a:p>
        </p:txBody>
      </p:sp>
      <p:sp>
        <p:nvSpPr>
          <p:cNvPr id="7" name="">
            <a:extLst xmlns:a="http://schemas.openxmlformats.org/drawingml/2006/main">
              <a:ext uri="{FF2B5EF4-FFF2-40B4-BE49-F238E27FC236}">
                <a16:creationId xmlns:a16="http://schemas.microsoft.com/office/drawing/2014/main" id="{E5AFD64F-C2EA-4108-B069-321E33810DC2}"/>
              </a:ext>
            </a:extLst>
          </p:cNvPr>
          <p:cNvSpPr>
            <a:spLocks xmlns:a="http://schemas.openxmlformats.org/drawingml/2006/main" noGrp="1"/>
          </p:cNvSpPr>
          <p:nvPr/>
        </p:nvSpPr>
        <p:spPr>
          <a:xfrm xmlns:a="http://schemas.openxmlformats.org/drawingml/2006/main">
            <a:off x="723900" y="505777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344F61"/>
                </a:solidFill>
                <a:latin typeface="Arial"/>
                <a:ea typeface="Arial"/>
                <a:cs typeface="Arial"/>
              </a:defRPr>
            </a:pPr>
            <a:r>
              <a:rPr sz="2175" b="0">
                <a:solidFill>
                  <a:srgbClr val="344F61"/>
                </a:solidFill>
                <a:latin typeface="Arial"/>
                <a:ea typeface="Arial"/>
                <a:cs typeface="Arial"/>
              </a:rPr>
              <a:t>Does the sensing model fit F3? Which resource budget should define a fair comparison?</a:t>
            </a:r>
          </a:p>
        </p:txBody>
      </p:sp>
    </p:spTree>
    <p:extLst>
      <p:ext uri="{BB962C8B-B14F-4D97-AF65-F5344CB8AC3E}">
        <p14:creationId xmlns:p14="http://schemas.microsoft.com/office/powerpoint/2010/main" val="149442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2026-10-08T22:55:40.5570000Z</dcterms:created>
  <dcterms:modified xsi:type="dcterms:W3CDTF">2026-10-08T22:55:40.5570000Z</dcterms:modified>
</coreProperties>
</file>